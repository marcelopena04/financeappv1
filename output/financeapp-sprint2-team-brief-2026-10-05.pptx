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9bc9b504ea4955" /><Relationship Type="http://schemas.openxmlformats.org/officeDocument/2006/relationships/extended-properties" Target="/docProps/app.xml" Id="Rb49c793ce04148ed" /><Relationship Type="http://schemas.openxmlformats.org/officeDocument/2006/relationships/officeDocument" Target="/ppt/presentation.xml" Id="Re38137f354e64f8f" /></Relationships>
</file>

<file path=ppt/presentation.xml><?xml version="1.0" encoding="utf-8"?>
<p:presentation xmlns:p="http://schemas.openxmlformats.org/presentationml/2006/main">
  <p:sldMasterIdLst>
    <p:sldMasterId xmlns:r="http://schemas.openxmlformats.org/officeDocument/2006/relationships" id="2147483648" r:id="R2a620e5ab3b24759"/>
  </p:sldMasterIdLst>
  <p:notesMasterIdLst>
    <p:notesMasterId xmlns:r="http://schemas.openxmlformats.org/officeDocument/2006/relationships" r:id="Rf464d28d17eb498c"/>
  </p:notesMasterIdLst>
  <p:sldIdLst>
    <p:sldId xmlns:r="http://schemas.openxmlformats.org/officeDocument/2006/relationships" id="256" r:id="R714a104e27f24c19"/>
    <p:sldId xmlns:r="http://schemas.openxmlformats.org/officeDocument/2006/relationships" id="257" r:id="R5c6e314080984740"/>
    <p:sldId xmlns:r="http://schemas.openxmlformats.org/officeDocument/2006/relationships" id="258" r:id="R384e5ae78a26444a"/>
    <p:sldId xmlns:r="http://schemas.openxmlformats.org/officeDocument/2006/relationships" id="259" r:id="R2a059f1d0769443b"/>
    <p:sldId xmlns:r="http://schemas.openxmlformats.org/officeDocument/2006/relationships" id="260" r:id="R27bfefcd3f314970"/>
    <p:sldId xmlns:r="http://schemas.openxmlformats.org/officeDocument/2006/relationships" id="261" r:id="R78165b8bb3ba4273"/>
    <p:sldId xmlns:r="http://schemas.openxmlformats.org/officeDocument/2006/relationships" id="262" r:id="R9f07d8916b6a4504"/>
    <p:sldId xmlns:r="http://schemas.openxmlformats.org/officeDocument/2006/relationships" id="263" r:id="R885202c2bac04d9f"/>
    <p:sldId xmlns:r="http://schemas.openxmlformats.org/officeDocument/2006/relationships" id="264" r:id="R6fd19b75bc694acd"/>
    <p:sldId xmlns:r="http://schemas.openxmlformats.org/officeDocument/2006/relationships" id="265" r:id="R4ec4430da8164435"/>
    <p:sldId xmlns:r="http://schemas.openxmlformats.org/officeDocument/2006/relationships" id="266" r:id="R8c349fbd4b744b22"/>
    <p:sldId xmlns:r="http://schemas.openxmlformats.org/officeDocument/2006/relationships" id="267" r:id="R7e24d16e7fba4978"/>
    <p:sldId xmlns:r="http://schemas.openxmlformats.org/officeDocument/2006/relationships" id="268" r:id="R352b3b86bdfa49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48676000054478" /><Relationship Type="http://schemas.openxmlformats.org/officeDocument/2006/relationships/slideMaster" Target="/ppt/slideMasters/slideMaster1.xml" Id="R2a620e5ab3b24759" /><Relationship Type="http://schemas.openxmlformats.org/officeDocument/2006/relationships/notesMaster" Target="/ppt/notesMasters/notesMaster1.xml" Id="Rf464d28d17eb498c" /><Relationship Type="http://schemas.openxmlformats.org/officeDocument/2006/relationships/presProps" Target="/ppt/presProps.xml" Id="R289bda6bef7a49ae" /><Relationship Type="http://schemas.openxmlformats.org/officeDocument/2006/relationships/tableStyles" Target="/ppt/tableStyles.xml" Id="R2355bff98f054aa4" /><Relationship Type="http://schemas.openxmlformats.org/officeDocument/2006/relationships/slide" Target="/ppt/slides/slide1.xml" Id="R714a104e27f24c19" /><Relationship Type="http://schemas.openxmlformats.org/officeDocument/2006/relationships/slide" Target="/ppt/slides/slide2.xml" Id="R5c6e314080984740" /><Relationship Type="http://schemas.openxmlformats.org/officeDocument/2006/relationships/slide" Target="/ppt/slides/slide3.xml" Id="R384e5ae78a26444a" /><Relationship Type="http://schemas.openxmlformats.org/officeDocument/2006/relationships/slide" Target="/ppt/slides/slide4.xml" Id="R2a059f1d0769443b" /><Relationship Type="http://schemas.openxmlformats.org/officeDocument/2006/relationships/slide" Target="/ppt/slides/slide5.xml" Id="R27bfefcd3f314970" /><Relationship Type="http://schemas.openxmlformats.org/officeDocument/2006/relationships/slide" Target="/ppt/slides/slide6.xml" Id="R78165b8bb3ba4273" /><Relationship Type="http://schemas.openxmlformats.org/officeDocument/2006/relationships/slide" Target="/ppt/slides/slide7.xml" Id="R9f07d8916b6a4504" /><Relationship Type="http://schemas.openxmlformats.org/officeDocument/2006/relationships/slide" Target="/ppt/slides/slide8.xml" Id="R885202c2bac04d9f" /><Relationship Type="http://schemas.openxmlformats.org/officeDocument/2006/relationships/slide" Target="/ppt/slides/slide9.xml" Id="R6fd19b75bc694acd" /><Relationship Type="http://schemas.openxmlformats.org/officeDocument/2006/relationships/slide" Target="/ppt/slides/slide10.xml" Id="R4ec4430da8164435" /><Relationship Type="http://schemas.openxmlformats.org/officeDocument/2006/relationships/slide" Target="/ppt/slides/slide11.xml" Id="R8c349fbd4b744b22" /><Relationship Type="http://schemas.openxmlformats.org/officeDocument/2006/relationships/slide" Target="/ppt/slides/slide12.xml" Id="R7e24d16e7fba4978" /><Relationship Type="http://schemas.openxmlformats.org/officeDocument/2006/relationships/slide" Target="/ppt/slides/slide13.xml" Id="R352b3b86bdfa49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8609f1803a42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16852a89e2452e" /><Relationship Type="http://schemas.openxmlformats.org/officeDocument/2006/relationships/notesMaster" Target="/ppt/notesMasters/notesMaster1.xml" Id="R5e5d82bf6e5947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e8dd19e1644f23" /><Relationship Type="http://schemas.openxmlformats.org/officeDocument/2006/relationships/notesMaster" Target="/ppt/notesMasters/notesMaster1.xml" Id="R2bec732f132340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66927bbeaa407d" /><Relationship Type="http://schemas.openxmlformats.org/officeDocument/2006/relationships/notesMaster" Target="/ppt/notesMasters/notesMaster1.xml" Id="R4067e37aac794c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532b53b7ee40c3" /><Relationship Type="http://schemas.openxmlformats.org/officeDocument/2006/relationships/notesMaster" Target="/ppt/notesMasters/notesMaster1.xml" Id="R86903461fc8647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6c483fa8d04639" /><Relationship Type="http://schemas.openxmlformats.org/officeDocument/2006/relationships/notesMaster" Target="/ppt/notesMasters/notesMaster1.xml" Id="R566e5721f49b46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7d2327ff1f4c3e" /><Relationship Type="http://schemas.openxmlformats.org/officeDocument/2006/relationships/notesMaster" Target="/ppt/notesMasters/notesMaster1.xml" Id="R6172f2251f114a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5d642f561a46ce" /><Relationship Type="http://schemas.openxmlformats.org/officeDocument/2006/relationships/notesMaster" Target="/ppt/notesMasters/notesMaster1.xml" Id="R7e3e84eecbbb4d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46fcaa013647e7" /><Relationship Type="http://schemas.openxmlformats.org/officeDocument/2006/relationships/notesMaster" Target="/ppt/notesMasters/notesMaster1.xml" Id="Rc10d9c3528264d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0ca3dfe4814f6b" /><Relationship Type="http://schemas.openxmlformats.org/officeDocument/2006/relationships/notesMaster" Target="/ppt/notesMasters/notesMaster1.xml" Id="R6524c20f0f3f43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a88e946c974bf3" /><Relationship Type="http://schemas.openxmlformats.org/officeDocument/2006/relationships/notesMaster" Target="/ppt/notesMasters/notesMaster1.xml" Id="Rf3c6d4f469324c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6b38e9dc0c4656" /><Relationship Type="http://schemas.openxmlformats.org/officeDocument/2006/relationships/notesMaster" Target="/ppt/notesMasters/notesMaster1.xml" Id="Rdb3c19f29ca341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f8f6ee45394d5d" /><Relationship Type="http://schemas.openxmlformats.org/officeDocument/2006/relationships/notesMaster" Target="/ppt/notesMasters/notesMaster1.xml" Id="R6635d7e5d62242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140cf014fd4aec" /><Relationship Type="http://schemas.openxmlformats.org/officeDocument/2006/relationships/notesMaster" Target="/ppt/notesMasters/notesMaster1.xml" Id="Rb5d6603a342642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align the team on what exists today, the bounded Sprint 2 goal, and the interfaces between roles. Cover art is an abstract AI-generated visual, not a claim about a live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Sprint 2 plan in the Product &amp; App State and Venture &amp; Sprint Hub. This meeting should decide scope and interfaces before OAuth or database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docs/product-contract.md, src/app/page.tsx, and the current Product &amp; App State. Do not call the current detected flow a balance or complete spending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docs/product-contract.md, Candidate record and invariants. The current contract requires source facts, system interpretation, and user decisions to remain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package.json; src/domain/canonical-capture.ts; src/parser/transaction-parser.ts; src/domain/transaction-lifecycle.ts; src/domain/review-persistence.ts. The deck intentionally does not choose a new database or auth provider before the team decides the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docs/product-contract.md, invariants and duplicate/evolution rules; docs/human-review-contract.md. These rules become integration acceptance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current Product &amp; App State, Sprint 2 ready work mode. Google classifies gmail.readonly as restricted. Do not represent either Gmail or import as already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docs/product-contract.md source-agnostic capture boundary. Integration should use a testable SourceArtifact handoff into existing domain functions and a durable persistence adapter around existing review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Sprint 2 plan and docs/product-contract.md. Gmail readonly is restricted. The owner should choose Gmail only after the short consent, coverage, and safe-handling feasibility check. Fallback: labelled user-initiated import.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Sprint 2 minimum scope and docs/human-review-contract.md. The exact database and identity provider are implementation choices after the team agrees storage, retention, deletion, and access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Sprint 2 ownership split in the Sprint Hub and Product &amp; App State. Founder owns product/trust/UX/customer-validation acceptance rather than delegating core venture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Sprint 2 exit gate from Product &amp; App State. This is the lightweight V-model: requirements are paired with direct checks, including wrong-account access, replay, unsupported input, disconnect, deletion, and user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assigning names to the Gmail source-path owner and database/identity owner, confirming the founder as integration lead, and setting the first scope decision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b356297ab146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f7509dcb4d4ded" /><Relationship Type="http://schemas.openxmlformats.org/officeDocument/2006/relationships/slideLayout" Target="/ppt/slideLayouts/slideLayout1.xml" Id="Rb02c892bd5614c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2c892bd5614c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60ba9d808145fc" /><Relationship Type="http://schemas.openxmlformats.org/officeDocument/2006/relationships/image" Target="/ppt/media/image.png" Id="Rc3a74188da82465c" /><Relationship Type="http://schemas.openxmlformats.org/officeDocument/2006/relationships/notesSlide" Target="/ppt/notesSlides/notesSlide1.xml" Id="R2191d84cdd9044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1a021d1f2543c1" /><Relationship Type="http://schemas.openxmlformats.org/officeDocument/2006/relationships/notesSlide" Target="/ppt/notesSlides/notesSlide2.xml" Id="Rad3ac96eb20c4a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2e87c43d0248b3" /><Relationship Type="http://schemas.openxmlformats.org/officeDocument/2006/relationships/notesSlide" Target="/ppt/notesSlides/notesSlide3.xml" Id="R8e40d0120ade41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b314e449664494" /><Relationship Type="http://schemas.openxmlformats.org/officeDocument/2006/relationships/notesSlide" Target="/ppt/notesSlides/notesSlide4.xml" Id="R23feea9ce45b4e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b7df3d12cc4a99" /><Relationship Type="http://schemas.openxmlformats.org/officeDocument/2006/relationships/notesSlide" Target="/ppt/notesSlides/notesSlide5.xml" Id="Rfdd0e97d2b8747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9bee18d5b6422b" /><Relationship Type="http://schemas.openxmlformats.org/officeDocument/2006/relationships/notesSlide" Target="/ppt/notesSlides/notesSlide6.xml" Id="R9789a2cd78894d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d68bd2e44b44bef" /><Relationship Type="http://schemas.openxmlformats.org/officeDocument/2006/relationships/notesSlide" Target="/ppt/notesSlides/notesSlide7.xml" Id="Rfdf1b823d97442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b7c4bd87cf34dc8" /><Relationship Type="http://schemas.openxmlformats.org/officeDocument/2006/relationships/notesSlide" Target="/ppt/notesSlides/notesSlide8.xml" Id="R23a594213d3343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86152e003749dc" /><Relationship Type="http://schemas.openxmlformats.org/officeDocument/2006/relationships/notesSlide" Target="/ppt/notesSlides/notesSlide9.xml" Id="Rbc6d7417c35a4a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fb5152386b45f8" /><Relationship Type="http://schemas.openxmlformats.org/officeDocument/2006/relationships/notesSlide" Target="/ppt/notesSlides/notesSlide10.xml" Id="R8171cdc7251c47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867ee732f24651" /><Relationship Type="http://schemas.openxmlformats.org/officeDocument/2006/relationships/notesSlide" Target="/ppt/notesSlides/notesSlide11.xml" Id="R7a9d8eaf0f5345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d52f9743b54290" /><Relationship Type="http://schemas.openxmlformats.org/officeDocument/2006/relationships/notesSlide" Target="/ppt/notesSlides/notesSlide12.xml" Id="Re5ef44c9b0494b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0dcce4ea99d49ab" /><Relationship Type="http://schemas.openxmlformats.org/officeDocument/2006/relationships/notesSlide" Target="/ppt/notesSlides/notesSlide13.xml" Id="R1986b5be80dd404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3a74188da82465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9BED0D-AFBF-4A63-91D5-E84D5C43DAEE}"/>
              </a:ext>
            </a:extLst>
          </p:cNvPr>
          <p:cNvSpPr>
            <a:spLocks xmlns:a="http://schemas.openxmlformats.org/drawingml/2006/main" noGrp="1"/>
          </p:cNvSpPr>
          <p:nvPr/>
        </p:nvSpPr>
        <p:spPr>
          <a:xfrm xmlns:a="http://schemas.openxmlformats.org/drawingml/2006/main">
            <a:off x="685800" y="7620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A8D9CD"/>
                </a:solidFill>
                <a:latin typeface="Helvetica Neue"/>
                <a:ea typeface="Helvetica Neue"/>
                <a:cs typeface="Helvetica Neue"/>
              </a:defRPr>
            </a:pPr>
            <a:r>
              <a:rPr sz="2100" b="1">
                <a:solidFill>
                  <a:srgbClr val="A8D9CD"/>
                </a:solidFill>
                <a:latin typeface="Helvetica Neue"/>
                <a:ea typeface="Helvetica Neue"/>
                <a:cs typeface="Helvetica Neue"/>
              </a:rPr>
              <a:t>FinanceApp</a:t>
            </a:r>
          </a:p>
        </p:txBody>
      </p:sp>
      <p:sp>
        <p:nvSpPr>
          <p:cNvPr id="3" name="">
            <a:extLst xmlns:a="http://schemas.openxmlformats.org/drawingml/2006/main">
              <a:ext uri="{FF2B5EF4-FFF2-40B4-BE49-F238E27FC236}">
                <a16:creationId xmlns:a16="http://schemas.microsoft.com/office/drawing/2014/main" id="{5D9CC0B8-8A21-4250-8FF6-5C184DB92F5E}"/>
              </a:ext>
            </a:extLst>
          </p:cNvPr>
          <p:cNvSpPr>
            <a:spLocks xmlns:a="http://schemas.openxmlformats.org/drawingml/2006/main" noGrp="1"/>
          </p:cNvSpPr>
          <p:nvPr/>
        </p:nvSpPr>
        <p:spPr>
          <a:xfrm xmlns:a="http://schemas.openxmlformats.org/drawingml/2006/main">
            <a:off x="685800" y="1352550"/>
            <a:ext cx="5334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270"/>
          </a:bodyPr>
          <a:lstStyle xmlns:a="http://schemas.openxmlformats.org/drawingml/2006/main"/>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Sprint 2</a:t>
            </a:r>
          </a:p>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Team Brief</a:t>
            </a:r>
          </a:p>
        </p:txBody>
      </p:sp>
      <p:sp>
        <p:nvSpPr>
          <p:cNvPr id="4" name="">
            <a:extLst xmlns:a="http://schemas.openxmlformats.org/drawingml/2006/main">
              <a:ext uri="{FF2B5EF4-FFF2-40B4-BE49-F238E27FC236}">
                <a16:creationId xmlns:a16="http://schemas.microsoft.com/office/drawing/2014/main" id="{4978E72B-FEF5-460E-8931-F22356A04D22}"/>
              </a:ext>
            </a:extLst>
          </p:cNvPr>
          <p:cNvSpPr>
            <a:spLocks xmlns:a="http://schemas.openxmlformats.org/drawingml/2006/main" noGrp="1"/>
          </p:cNvSpPr>
          <p:nvPr/>
        </p:nvSpPr>
        <p:spPr>
          <a:xfrm xmlns:a="http://schemas.openxmlformats.org/drawingml/2006/main">
            <a:off x="723900" y="29908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37"/>
          </a:bodyPr>
          <a:lstStyle xmlns:a="http://schemas.openxmlformats.org/drawingml/2006/main"/>
          <a:p xmlns:a="http://schemas.openxmlformats.org/drawingml/2006/main">
            <a:pPr>
              <a:defRPr sz="1500" b="0">
                <a:solidFill>
                  <a:srgbClr val="D7E9E5"/>
                </a:solidFill>
                <a:latin typeface="Helvetica Neue"/>
                <a:ea typeface="Helvetica Neue"/>
                <a:cs typeface="Helvetica Neue"/>
              </a:defRPr>
            </a:pPr>
            <a:r>
              <a:rPr sz="1500" b="0">
                <a:solidFill>
                  <a:srgbClr val="D7E9E5"/>
                </a:solidFill>
                <a:latin typeface="Helvetica Neue"/>
                <a:ea typeface="Helvetica Neue"/>
                <a:cs typeface="Helvetica Neue"/>
              </a:rPr>
              <a:t>Current product state, integration plan, and ownership</a:t>
            </a:r>
          </a:p>
        </p:txBody>
      </p:sp>
      <p:sp>
        <p:nvSpPr>
          <p:cNvPr id="5" name="">
            <a:extLst xmlns:a="http://schemas.openxmlformats.org/drawingml/2006/main">
              <a:ext uri="{FF2B5EF4-FFF2-40B4-BE49-F238E27FC236}">
                <a16:creationId xmlns:a16="http://schemas.microsoft.com/office/drawing/2014/main" id="{7D6C224D-BA39-4EB8-BDDB-1994B46F5F0D}"/>
              </a:ext>
            </a:extLst>
          </p:cNvPr>
          <p:cNvSpPr>
            <a:spLocks xmlns:a="http://schemas.openxmlformats.org/drawingml/2006/main" noGrp="1"/>
          </p:cNvSpPr>
          <p:nvPr/>
        </p:nvSpPr>
        <p:spPr>
          <a:xfrm xmlns:a="http://schemas.openxmlformats.org/drawingml/2006/main">
            <a:off x="723900" y="59055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B8D7D2"/>
                </a:solidFill>
                <a:latin typeface="Helvetica Neue"/>
                <a:ea typeface="Helvetica Neue"/>
                <a:cs typeface="Helvetica Neue"/>
              </a:defRPr>
            </a:pPr>
            <a:r>
              <a:rPr sz="1050" b="0">
                <a:solidFill>
                  <a:srgbClr val="B8D7D2"/>
                </a:solidFill>
                <a:latin typeface="Helvetica Neue"/>
                <a:ea typeface="Helvetica Neue"/>
                <a:cs typeface="Helvetica Neue"/>
              </a:rPr>
              <a:t>Meeting · 5 October 2026</a:t>
            </a:r>
          </a:p>
        </p:txBody>
      </p:sp>
    </p:spTree>
    <p:extLst>
      <p:ext uri="{BB962C8B-B14F-4D97-AF65-F5344CB8AC3E}">
        <p14:creationId xmlns:p14="http://schemas.microsoft.com/office/powerpoint/2010/main" val="41434897"/>
      </p:ext>
    </p:extLst>
  </p:cSld>
</p:sld>
</file>

<file path=ppt/slides/slide2.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435FA9-EA91-4D6E-8260-9ED4B4DEBEDE}"/>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92639"/>
                </a:solidFill>
                <a:latin typeface="Helvetica Neue"/>
                <a:ea typeface="Helvetica Neue"/>
                <a:cs typeface="Helvetica Neue"/>
              </a:defRPr>
            </a:pPr>
            <a:r>
              <a:rPr sz="2700" b="1">
                <a:solidFill>
                  <a:srgbClr val="092639"/>
                </a:solidFill>
                <a:latin typeface="Helvetica Neue"/>
                <a:ea typeface="Helvetica Neue"/>
                <a:cs typeface="Helvetica Neue"/>
              </a:rPr>
              <a:t>Today’s outcome</a:t>
            </a:r>
          </a:p>
        </p:txBody>
      </p:sp>
      <p:sp>
        <p:nvSpPr>
          <p:cNvPr id="2" name="">
            <a:extLst xmlns:a="http://schemas.openxmlformats.org/drawingml/2006/main">
              <a:ext uri="{FF2B5EF4-FFF2-40B4-BE49-F238E27FC236}">
                <a16:creationId xmlns:a16="http://schemas.microsoft.com/office/drawing/2014/main" id="{BCF33344-1CFD-463F-A724-18ABB3733B5B}"/>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E7180"/>
                </a:solidFill>
                <a:latin typeface="Helvetica Neue"/>
                <a:ea typeface="Helvetica Neue"/>
                <a:cs typeface="Helvetica Neue"/>
              </a:defRPr>
            </a:pPr>
            <a:r>
              <a:rPr sz="1200" b="0">
                <a:solidFill>
                  <a:srgbClr val="5E7180"/>
                </a:solidFill>
                <a:latin typeface="Helvetica Neue"/>
                <a:ea typeface="Helvetica Neue"/>
                <a:cs typeface="Helvetica Neue"/>
              </a:rPr>
              <a:t>Leave with one shared build boundary and clear ownership</a:t>
            </a:r>
          </a:p>
        </p:txBody>
      </p:sp>
      <p:sp>
        <p:nvSpPr>
          <p:cNvPr id="3" name="">
            <a:extLst xmlns:a="http://schemas.openxmlformats.org/drawingml/2006/main">
              <a:ext uri="{FF2B5EF4-FFF2-40B4-BE49-F238E27FC236}">
                <a16:creationId xmlns:a16="http://schemas.microsoft.com/office/drawing/2014/main" id="{6C920361-4E8B-4EE8-8886-2BB54AB3A5F3}"/>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02</a:t>
            </a:r>
          </a:p>
        </p:txBody>
      </p:sp>
      <p:sp>
        <p:nvSpPr>
          <p:cNvPr id="4" name="">
            <a:extLst xmlns:a="http://schemas.openxmlformats.org/drawingml/2006/main">
              <a:ext uri="{FF2B5EF4-FFF2-40B4-BE49-F238E27FC236}">
                <a16:creationId xmlns:a16="http://schemas.microsoft.com/office/drawing/2014/main" id="{C8E6E2A4-B307-49FC-AAC3-C139390C9B28}"/>
              </a:ext>
            </a:extLst>
          </p:cNvPr>
          <p:cNvSpPr>
            <a:spLocks xmlns:a="http://schemas.openxmlformats.org/drawingml/2006/main" noGrp="1"/>
          </p:cNvSpPr>
          <p:nvPr/>
        </p:nvSpPr>
        <p:spPr>
          <a:xfrm xmlns:a="http://schemas.openxmlformats.org/drawingml/2006/main">
            <a:off x="685800" y="179070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948"/>
          </a:bodyPr>
          <a:lstStyle xmlns:a="http://schemas.openxmlformats.org/drawingml/2006/main"/>
          <a:p xmlns:a="http://schemas.openxmlformats.org/drawingml/2006/main">
            <a:pPr>
              <a:defRPr sz="2100" b="1">
                <a:solidFill>
                  <a:srgbClr val="092639"/>
                </a:solidFill>
                <a:latin typeface="Helvetica Neue"/>
                <a:ea typeface="Helvetica Neue"/>
                <a:cs typeface="Helvetica Neue"/>
              </a:defRPr>
            </a:pPr>
            <a:r>
              <a:rPr sz="2100" b="1">
                <a:solidFill>
                  <a:srgbClr val="092639"/>
                </a:solidFill>
                <a:latin typeface="Helvetica Neue"/>
                <a:ea typeface="Helvetica Neue"/>
                <a:cs typeface="Helvetica Neue"/>
              </a:rPr>
              <a:t>Sprint 2 has one goal: an invited person completes one trusted capture journey.</a:t>
            </a:r>
          </a:p>
        </p:txBody>
      </p:sp>
      <p:sp>
        <p:nvSpPr>
          <p:cNvPr id="5" name="">
            <a:extLst xmlns:a="http://schemas.openxmlformats.org/drawingml/2006/main">
              <a:ext uri="{FF2B5EF4-FFF2-40B4-BE49-F238E27FC236}">
                <a16:creationId xmlns:a16="http://schemas.microsoft.com/office/drawing/2014/main" id="{B487B286-6F23-4487-ABB7-45E26902A94A}"/>
              </a:ext>
            </a:extLst>
          </p:cNvPr>
          <p:cNvSpPr>
            <a:spLocks xmlns:a="http://schemas.openxmlformats.org/drawingml/2006/main" noGrp="1"/>
          </p:cNvSpPr>
          <p:nvPr/>
        </p:nvSpPr>
        <p:spPr>
          <a:xfrm xmlns:a="http://schemas.openxmlformats.org/drawingml/2006/main">
            <a:off x="704850" y="2781300"/>
            <a:ext cx="3000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Agree the supported source pattern</a:t>
            </a:r>
          </a:p>
        </p:txBody>
      </p:sp>
      <p:sp>
        <p:nvSpPr>
          <p:cNvPr id="6" name="">
            <a:extLst xmlns:a="http://schemas.openxmlformats.org/drawingml/2006/main">
              <a:ext uri="{FF2B5EF4-FFF2-40B4-BE49-F238E27FC236}">
                <a16:creationId xmlns:a16="http://schemas.microsoft.com/office/drawing/2014/main" id="{4405AE9A-CFB2-4F74-8D34-0B18B62DAD38}"/>
              </a:ext>
            </a:extLst>
          </p:cNvPr>
          <p:cNvSpPr>
            <a:spLocks xmlns:a="http://schemas.openxmlformats.org/drawingml/2006/main" noGrp="1"/>
          </p:cNvSpPr>
          <p:nvPr/>
        </p:nvSpPr>
        <p:spPr>
          <a:xfrm xmlns:a="http://schemas.openxmlformats.org/drawingml/2006/main">
            <a:off x="704850" y="3067050"/>
            <a:ext cx="300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One sender or message format, one test-user route, and an explicit fallback import if Gmail is unsuitable.</a:t>
            </a:r>
          </a:p>
        </p:txBody>
      </p:sp>
      <p:sp>
        <p:nvSpPr>
          <p:cNvPr id="7" name="">
            <a:extLst xmlns:a="http://schemas.openxmlformats.org/drawingml/2006/main">
              <a:ext uri="{FF2B5EF4-FFF2-40B4-BE49-F238E27FC236}">
                <a16:creationId xmlns:a16="http://schemas.microsoft.com/office/drawing/2014/main" id="{92BD73A7-40B1-4845-8BC2-C426FFBD6553}"/>
              </a:ext>
            </a:extLst>
          </p:cNvPr>
          <p:cNvSpPr>
            <a:spLocks xmlns:a="http://schemas.openxmlformats.org/drawingml/2006/main" noGrp="1"/>
          </p:cNvSpPr>
          <p:nvPr/>
        </p:nvSpPr>
        <p:spPr>
          <a:xfrm xmlns:a="http://schemas.openxmlformats.org/drawingml/2006/main">
            <a:off x="4391025" y="2781300"/>
            <a:ext cx="3000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Agree the integration contract</a:t>
            </a:r>
          </a:p>
        </p:txBody>
      </p:sp>
      <p:sp>
        <p:nvSpPr>
          <p:cNvPr id="8" name="">
            <a:extLst xmlns:a="http://schemas.openxmlformats.org/drawingml/2006/main">
              <a:ext uri="{FF2B5EF4-FFF2-40B4-BE49-F238E27FC236}">
                <a16:creationId xmlns:a16="http://schemas.microsoft.com/office/drawing/2014/main" id="{0F4EFE8F-28EF-4455-987F-90D06ACCE9E7}"/>
              </a:ext>
            </a:extLst>
          </p:cNvPr>
          <p:cNvSpPr>
            <a:spLocks xmlns:a="http://schemas.openxmlformats.org/drawingml/2006/main" noGrp="1"/>
          </p:cNvSpPr>
          <p:nvPr/>
        </p:nvSpPr>
        <p:spPr>
          <a:xfrm xmlns:a="http://schemas.openxmlformats.org/drawingml/2006/main">
            <a:off x="4391025" y="3067050"/>
            <a:ext cx="300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Each workstream passes a stable record forward and proves its own failure cases before integration.</a:t>
            </a:r>
          </a:p>
        </p:txBody>
      </p:sp>
      <p:sp>
        <p:nvSpPr>
          <p:cNvPr id="9" name="">
            <a:extLst xmlns:a="http://schemas.openxmlformats.org/drawingml/2006/main">
              <a:ext uri="{FF2B5EF4-FFF2-40B4-BE49-F238E27FC236}">
                <a16:creationId xmlns:a16="http://schemas.microsoft.com/office/drawing/2014/main" id="{C70F91A9-ACD3-4DF0-971C-A0B68162B180}"/>
              </a:ext>
            </a:extLst>
          </p:cNvPr>
          <p:cNvSpPr>
            <a:spLocks xmlns:a="http://schemas.openxmlformats.org/drawingml/2006/main" noGrp="1"/>
          </p:cNvSpPr>
          <p:nvPr/>
        </p:nvSpPr>
        <p:spPr>
          <a:xfrm xmlns:a="http://schemas.openxmlformats.org/drawingml/2006/main">
            <a:off x="8077200" y="2781300"/>
            <a:ext cx="3000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Agree the sprint gate</a:t>
            </a:r>
          </a:p>
        </p:txBody>
      </p:sp>
      <p:sp>
        <p:nvSpPr>
          <p:cNvPr id="10" name="">
            <a:extLst xmlns:a="http://schemas.openxmlformats.org/drawingml/2006/main">
              <a:ext uri="{FF2B5EF4-FFF2-40B4-BE49-F238E27FC236}">
                <a16:creationId xmlns:a16="http://schemas.microsoft.com/office/drawing/2014/main" id="{FEF68C7E-3CBD-4AF8-AA09-EA5FB2FA2832}"/>
              </a:ext>
            </a:extLst>
          </p:cNvPr>
          <p:cNvSpPr>
            <a:spLocks xmlns:a="http://schemas.openxmlformats.org/drawingml/2006/main" noGrp="1"/>
          </p:cNvSpPr>
          <p:nvPr/>
        </p:nvSpPr>
        <p:spPr>
          <a:xfrm xmlns:a="http://schemas.openxmlformats.org/drawingml/2006/main">
            <a:off x="8077200" y="3067050"/>
            <a:ext cx="300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A non-builder must use the complete path, explain coverage, return to their own record, and disconnect or delete.</a:t>
            </a:r>
          </a:p>
        </p:txBody>
      </p:sp>
    </p:spTree>
    <p:extLst>
      <p:ext uri="{BB962C8B-B14F-4D97-AF65-F5344CB8AC3E}">
        <p14:creationId xmlns:p14="http://schemas.microsoft.com/office/powerpoint/2010/main" val="901695539"/>
      </p:ext>
    </p:extLst>
  </p:cSld>
</p:sld>
</file>

<file path=ppt/slides/slide3.xml><?xml version="1.0" encoding="utf-8"?>
<p:sld xmlns:p="http://schemas.openxmlformats.org/presentationml/2006/main">
  <p:cSld>
    <p:bg>
      <p:bgPr>
        <a:solidFill xmlns:a="http://schemas.openxmlformats.org/drawingml/2006/main">
          <a:srgbClr val="EAF2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C376882-C867-44D0-9841-9FEB86316342}"/>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92639"/>
                </a:solidFill>
                <a:latin typeface="Helvetica Neue"/>
                <a:ea typeface="Helvetica Neue"/>
                <a:cs typeface="Helvetica Neue"/>
              </a:defRPr>
            </a:pPr>
            <a:r>
              <a:rPr sz="2700" b="1">
                <a:solidFill>
                  <a:srgbClr val="092639"/>
                </a:solidFill>
                <a:latin typeface="Helvetica Neue"/>
                <a:ea typeface="Helvetica Neue"/>
                <a:cs typeface="Helvetica Neue"/>
              </a:rPr>
              <a:t>The prototype already proves a fictional review loop</a:t>
            </a:r>
          </a:p>
        </p:txBody>
      </p:sp>
      <p:sp>
        <p:nvSpPr>
          <p:cNvPr id="2" name="">
            <a:extLst xmlns:a="http://schemas.openxmlformats.org/drawingml/2006/main">
              <a:ext uri="{FF2B5EF4-FFF2-40B4-BE49-F238E27FC236}">
                <a16:creationId xmlns:a16="http://schemas.microsoft.com/office/drawing/2014/main" id="{EB4ADC4E-94BC-43F0-8DA9-D34435EE8C60}"/>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E7180"/>
                </a:solidFill>
                <a:latin typeface="Helvetica Neue"/>
                <a:ea typeface="Helvetica Neue"/>
                <a:cs typeface="Helvetica Neue"/>
              </a:defRPr>
            </a:pPr>
            <a:r>
              <a:rPr sz="1200" b="0">
                <a:solidFill>
                  <a:srgbClr val="5E7180"/>
                </a:solidFill>
                <a:latin typeface="Helvetica Neue"/>
                <a:ea typeface="Helvetica Neue"/>
                <a:cs typeface="Helvetica Neue"/>
              </a:rPr>
              <a:t>The current app is useful for testing logic and interaction, not yet for an invited person’s private data</a:t>
            </a:r>
          </a:p>
        </p:txBody>
      </p:sp>
      <p:sp>
        <p:nvSpPr>
          <p:cNvPr id="3" name="">
            <a:extLst xmlns:a="http://schemas.openxmlformats.org/drawingml/2006/main">
              <a:ext uri="{FF2B5EF4-FFF2-40B4-BE49-F238E27FC236}">
                <a16:creationId xmlns:a16="http://schemas.microsoft.com/office/drawing/2014/main" id="{4F7C4BDD-A628-4585-BF7C-B42E8D5C7C2A}"/>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03</a:t>
            </a:r>
          </a:p>
        </p:txBody>
      </p:sp>
      <p:sp>
        <p:nvSpPr>
          <p:cNvPr id="4" name="">
            <a:extLst xmlns:a="http://schemas.openxmlformats.org/drawingml/2006/main">
              <a:ext uri="{FF2B5EF4-FFF2-40B4-BE49-F238E27FC236}">
                <a16:creationId xmlns:a16="http://schemas.microsoft.com/office/drawing/2014/main" id="{800DD431-F6CE-45BD-ABCC-24498C4DD51A}"/>
              </a:ext>
            </a:extLst>
          </p:cNvPr>
          <p:cNvSpPr>
            <a:spLocks xmlns:a="http://schemas.openxmlformats.org/drawingml/2006/main" noGrp="1"/>
          </p:cNvSpPr>
          <p:nvPr/>
        </p:nvSpPr>
        <p:spPr>
          <a:xfrm xmlns:a="http://schemas.openxmlformats.org/drawingml/2006/main">
            <a:off x="781050" y="1952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092639"/>
                </a:solidFill>
                <a:latin typeface="Helvetica Neue"/>
                <a:ea typeface="Helvetica Neue"/>
                <a:cs typeface="Helvetica Neue"/>
              </a:defRPr>
            </a:pPr>
            <a:r>
              <a:rPr sz="1425" b="1">
                <a:solidFill>
                  <a:srgbClr val="092639"/>
                </a:solidFill>
                <a:latin typeface="Helvetica Neue"/>
                <a:ea typeface="Helvetica Neue"/>
                <a:cs typeface="Helvetica Neue"/>
              </a:rPr>
              <a:t>Fictional source artifact</a:t>
            </a:r>
          </a:p>
        </p:txBody>
      </p:sp>
      <p:sp>
        <p:nvSpPr>
          <p:cNvPr id="5" name="">
            <a:extLst xmlns:a="http://schemas.openxmlformats.org/drawingml/2006/main">
              <a:ext uri="{FF2B5EF4-FFF2-40B4-BE49-F238E27FC236}">
                <a16:creationId xmlns:a16="http://schemas.microsoft.com/office/drawing/2014/main" id="{A53D69FE-699C-48F1-AB70-A821087E8B9C}"/>
              </a:ext>
            </a:extLst>
          </p:cNvPr>
          <p:cNvSpPr>
            <a:spLocks xmlns:a="http://schemas.openxmlformats.org/drawingml/2006/main" noGrp="1"/>
          </p:cNvSpPr>
          <p:nvPr/>
        </p:nvSpPr>
        <p:spPr>
          <a:xfrm xmlns:a="http://schemas.openxmlformats.org/drawingml/2006/main">
            <a:off x="781050" y="26193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092639"/>
                </a:solidFill>
                <a:latin typeface="Helvetica Neue"/>
                <a:ea typeface="Helvetica Neue"/>
                <a:cs typeface="Helvetica Neue"/>
              </a:defRPr>
            </a:pPr>
            <a:r>
              <a:rPr sz="1425" b="1">
                <a:solidFill>
                  <a:srgbClr val="092639"/>
                </a:solidFill>
                <a:latin typeface="Helvetica Neue"/>
                <a:ea typeface="Helvetica Neue"/>
                <a:cs typeface="Helvetica Neue"/>
              </a:rPr>
              <a:t>Parser and source evidence</a:t>
            </a:r>
          </a:p>
        </p:txBody>
      </p:sp>
      <p:sp>
        <p:nvSpPr>
          <p:cNvPr id="6" name="">
            <a:extLst xmlns:a="http://schemas.openxmlformats.org/drawingml/2006/main">
              <a:ext uri="{FF2B5EF4-FFF2-40B4-BE49-F238E27FC236}">
                <a16:creationId xmlns:a16="http://schemas.microsoft.com/office/drawing/2014/main" id="{40FC5504-4033-404D-899D-5191425DEB2D}"/>
              </a:ext>
            </a:extLst>
          </p:cNvPr>
          <p:cNvSpPr>
            <a:spLocks xmlns:a="http://schemas.openxmlformats.org/drawingml/2006/main" noGrp="1"/>
          </p:cNvSpPr>
          <p:nvPr/>
        </p:nvSpPr>
        <p:spPr>
          <a:xfrm xmlns:a="http://schemas.openxmlformats.org/drawingml/2006/main">
            <a:off x="781050" y="3286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092639"/>
                </a:solidFill>
                <a:latin typeface="Helvetica Neue"/>
                <a:ea typeface="Helvetica Neue"/>
                <a:cs typeface="Helvetica Neue"/>
              </a:defRPr>
            </a:pPr>
            <a:r>
              <a:rPr sz="1425" b="1">
                <a:solidFill>
                  <a:srgbClr val="092639"/>
                </a:solidFill>
                <a:latin typeface="Helvetica Neue"/>
                <a:ea typeface="Helvetica Neue"/>
                <a:cs typeface="Helvetica Neue"/>
              </a:rPr>
              <a:t>Lifecycle and duplicate logic</a:t>
            </a:r>
          </a:p>
        </p:txBody>
      </p:sp>
      <p:sp>
        <p:nvSpPr>
          <p:cNvPr id="7" name="">
            <a:extLst xmlns:a="http://schemas.openxmlformats.org/drawingml/2006/main">
              <a:ext uri="{FF2B5EF4-FFF2-40B4-BE49-F238E27FC236}">
                <a16:creationId xmlns:a16="http://schemas.microsoft.com/office/drawing/2014/main" id="{0A15D164-A57E-4043-805B-6F95D206DBDE}"/>
              </a:ext>
            </a:extLst>
          </p:cNvPr>
          <p:cNvSpPr>
            <a:spLocks xmlns:a="http://schemas.openxmlformats.org/drawingml/2006/main" noGrp="1"/>
          </p:cNvSpPr>
          <p:nvPr/>
        </p:nvSpPr>
        <p:spPr>
          <a:xfrm xmlns:a="http://schemas.openxmlformats.org/drawingml/2006/main">
            <a:off x="781050" y="39528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092639"/>
                </a:solidFill>
                <a:latin typeface="Helvetica Neue"/>
                <a:ea typeface="Helvetica Neue"/>
                <a:cs typeface="Helvetica Neue"/>
              </a:defRPr>
            </a:pPr>
            <a:r>
              <a:rPr sz="1425" b="1">
                <a:solidFill>
                  <a:srgbClr val="092639"/>
                </a:solidFill>
                <a:latin typeface="Helvetica Neue"/>
                <a:ea typeface="Helvetica Neue"/>
                <a:cs typeface="Helvetica Neue"/>
              </a:rPr>
              <a:t>Review, corrections, and totals</a:t>
            </a:r>
          </a:p>
        </p:txBody>
      </p:sp>
      <p:sp>
        <p:nvSpPr>
          <p:cNvPr id="8" name="">
            <a:extLst xmlns:a="http://schemas.openxmlformats.org/drawingml/2006/main">
              <a:ext uri="{FF2B5EF4-FFF2-40B4-BE49-F238E27FC236}">
                <a16:creationId xmlns:a16="http://schemas.microsoft.com/office/drawing/2014/main" id="{DF4B14C4-F2C1-4073-ABAF-9F0F5EB97FE2}"/>
              </a:ext>
            </a:extLst>
          </p:cNvPr>
          <p:cNvSpPr>
            <a:spLocks xmlns:a="http://schemas.openxmlformats.org/drawingml/2006/main" noGrp="1"/>
          </p:cNvSpPr>
          <p:nvPr/>
        </p:nvSpPr>
        <p:spPr>
          <a:xfrm xmlns:a="http://schemas.openxmlformats.org/drawingml/2006/main">
            <a:off x="4953000" y="1857375"/>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What works today</a:t>
            </a:r>
          </a:p>
        </p:txBody>
      </p:sp>
      <p:sp>
        <p:nvSpPr>
          <p:cNvPr id="9" name="">
            <a:extLst xmlns:a="http://schemas.openxmlformats.org/drawingml/2006/main">
              <a:ext uri="{FF2B5EF4-FFF2-40B4-BE49-F238E27FC236}">
                <a16:creationId xmlns:a16="http://schemas.microsoft.com/office/drawing/2014/main" id="{32272552-7AB3-48B5-8CDA-C2F995B57099}"/>
              </a:ext>
            </a:extLst>
          </p:cNvPr>
          <p:cNvSpPr>
            <a:spLocks xmlns:a="http://schemas.openxmlformats.org/drawingml/2006/main" noGrp="1"/>
          </p:cNvSpPr>
          <p:nvPr/>
        </p:nvSpPr>
        <p:spPr>
          <a:xfrm xmlns:a="http://schemas.openxmlformats.org/drawingml/2006/main">
            <a:off x="4953000" y="2209800"/>
            <a:ext cx="5334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Detects supported fictional transactions</a:t>
            </a:r>
          </a:p>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Preserves source evidence</a:t>
            </a:r>
          </a:p>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Lets a user confirm, correct, exclude, or resolve duplicates</a:t>
            </a:r>
          </a:p>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Persists choices after refresh in the same browser</a:t>
            </a:r>
          </a:p>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Scopes detected flow by source, account, or card</a:t>
            </a:r>
          </a:p>
        </p:txBody>
      </p:sp>
      <p:sp>
        <p:nvSpPr>
          <p:cNvPr id="10" name="">
            <a:extLst xmlns:a="http://schemas.openxmlformats.org/drawingml/2006/main">
              <a:ext uri="{FF2B5EF4-FFF2-40B4-BE49-F238E27FC236}">
                <a16:creationId xmlns:a16="http://schemas.microsoft.com/office/drawing/2014/main" id="{4F391CBC-CADD-48BF-8061-DA0778250718}"/>
              </a:ext>
            </a:extLst>
          </p:cNvPr>
          <p:cNvSpPr>
            <a:spLocks xmlns:a="http://schemas.openxmlformats.org/drawingml/2006/main" noGrp="1"/>
          </p:cNvSpPr>
          <p:nvPr/>
        </p:nvSpPr>
        <p:spPr>
          <a:xfrm xmlns:a="http://schemas.openxmlformats.org/drawingml/2006/main">
            <a:off x="4953000" y="4419600"/>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A65B3C"/>
                </a:solidFill>
                <a:latin typeface="Helvetica Neue"/>
                <a:ea typeface="Helvetica Neue"/>
                <a:cs typeface="Helvetica Neue"/>
              </a:defRPr>
            </a:pPr>
            <a:r>
              <a:rPr sz="1350" b="1">
                <a:solidFill>
                  <a:srgbClr val="A65B3C"/>
                </a:solidFill>
                <a:latin typeface="Helvetica Neue"/>
                <a:ea typeface="Helvetica Neue"/>
                <a:cs typeface="Helvetica Neue"/>
              </a:rPr>
              <a:t>What it does not do yet</a:t>
            </a:r>
          </a:p>
        </p:txBody>
      </p:sp>
      <p:sp>
        <p:nvSpPr>
          <p:cNvPr id="11" name="">
            <a:extLst xmlns:a="http://schemas.openxmlformats.org/drawingml/2006/main">
              <a:ext uri="{FF2B5EF4-FFF2-40B4-BE49-F238E27FC236}">
                <a16:creationId xmlns:a16="http://schemas.microsoft.com/office/drawing/2014/main" id="{DEE0D60E-0CA5-4778-BD74-577A214D2965}"/>
              </a:ext>
            </a:extLst>
          </p:cNvPr>
          <p:cNvSpPr>
            <a:spLocks xmlns:a="http://schemas.openxmlformats.org/drawingml/2006/main" noGrp="1"/>
          </p:cNvSpPr>
          <p:nvPr/>
        </p:nvSpPr>
        <p:spPr>
          <a:xfrm xmlns:a="http://schemas.openxmlformats.org/drawingml/2006/main">
            <a:off x="4953000" y="4762500"/>
            <a:ext cx="542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No Gmail connection, hosted identity, shared database, secure multi-user storage, verified balance, or complete financial history.</a:t>
            </a:r>
          </a:p>
        </p:txBody>
      </p:sp>
    </p:spTree>
    <p:extLst>
      <p:ext uri="{BB962C8B-B14F-4D97-AF65-F5344CB8AC3E}">
        <p14:creationId xmlns:p14="http://schemas.microsoft.com/office/powerpoint/2010/main" val="10054541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FF10E07-66D6-42D5-84EC-AFFEC936D54F}"/>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92639"/>
                </a:solidFill>
                <a:latin typeface="Helvetica Neue"/>
                <a:ea typeface="Helvetica Neue"/>
                <a:cs typeface="Helvetica Neue"/>
              </a:defRPr>
            </a:pPr>
            <a:r>
              <a:rPr sz="2700" b="1">
                <a:solidFill>
                  <a:srgbClr val="092639"/>
                </a:solidFill>
                <a:latin typeface="Helvetica Neue"/>
                <a:ea typeface="Helvetica Neue"/>
                <a:cs typeface="Helvetica Neue"/>
              </a:rPr>
              <a:t>The product keeps three kinds of information separate</a:t>
            </a:r>
          </a:p>
        </p:txBody>
      </p:sp>
      <p:sp>
        <p:nvSpPr>
          <p:cNvPr id="2" name="">
            <a:extLst xmlns:a="http://schemas.openxmlformats.org/drawingml/2006/main">
              <a:ext uri="{FF2B5EF4-FFF2-40B4-BE49-F238E27FC236}">
                <a16:creationId xmlns:a16="http://schemas.microsoft.com/office/drawing/2014/main" id="{3733274B-7759-48BC-935B-939DD0F30E6C}"/>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E7180"/>
                </a:solidFill>
                <a:latin typeface="Helvetica Neue"/>
                <a:ea typeface="Helvetica Neue"/>
                <a:cs typeface="Helvetica Neue"/>
              </a:defRPr>
            </a:pPr>
            <a:r>
              <a:rPr sz="1200" b="0">
                <a:solidFill>
                  <a:srgbClr val="5E7180"/>
                </a:solidFill>
                <a:latin typeface="Helvetica Neue"/>
                <a:ea typeface="Helvetica Neue"/>
                <a:cs typeface="Helvetica Neue"/>
              </a:rPr>
              <a:t>This is the core trust rule that every Sprint 2 component must preserve</a:t>
            </a:r>
          </a:p>
        </p:txBody>
      </p:sp>
      <p:sp>
        <p:nvSpPr>
          <p:cNvPr id="3" name="">
            <a:extLst xmlns:a="http://schemas.openxmlformats.org/drawingml/2006/main">
              <a:ext uri="{FF2B5EF4-FFF2-40B4-BE49-F238E27FC236}">
                <a16:creationId xmlns:a16="http://schemas.microsoft.com/office/drawing/2014/main" id="{A47E4CB7-73D6-430F-A14D-13CC6386D443}"/>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04</a:t>
            </a:r>
          </a:p>
        </p:txBody>
      </p:sp>
      <p:sp>
        <p:nvSpPr>
          <p:cNvPr id="4" name="">
            <a:extLst xmlns:a="http://schemas.openxmlformats.org/drawingml/2006/main">
              <a:ext uri="{FF2B5EF4-FFF2-40B4-BE49-F238E27FC236}">
                <a16:creationId xmlns:a16="http://schemas.microsoft.com/office/drawing/2014/main" id="{F1873CEC-B54B-4507-A313-ADF91AE1F918}"/>
              </a:ext>
            </a:extLst>
          </p:cNvPr>
          <p:cNvSpPr>
            <a:spLocks xmlns:a="http://schemas.openxmlformats.org/drawingml/2006/main" noGrp="1"/>
          </p:cNvSpPr>
          <p:nvPr/>
        </p:nvSpPr>
        <p:spPr>
          <a:xfrm xmlns:a="http://schemas.openxmlformats.org/drawingml/2006/main">
            <a:off x="742950" y="195262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092639"/>
                </a:solidFill>
                <a:latin typeface="Helvetica Neue"/>
                <a:ea typeface="Helvetica Neue"/>
                <a:cs typeface="Helvetica Neue"/>
              </a:defRPr>
            </a:pPr>
            <a:r>
              <a:rPr sz="1725" b="1">
                <a:solidFill>
                  <a:srgbClr val="092639"/>
                </a:solidFill>
                <a:latin typeface="Helvetica Neue"/>
                <a:ea typeface="Helvetica Neue"/>
                <a:cs typeface="Helvetica Neue"/>
              </a:rPr>
              <a:t>Observed source facts</a:t>
            </a:r>
          </a:p>
        </p:txBody>
      </p:sp>
      <p:sp>
        <p:nvSpPr>
          <p:cNvPr id="5" name="">
            <a:extLst xmlns:a="http://schemas.openxmlformats.org/drawingml/2006/main">
              <a:ext uri="{FF2B5EF4-FFF2-40B4-BE49-F238E27FC236}">
                <a16:creationId xmlns:a16="http://schemas.microsoft.com/office/drawing/2014/main" id="{EF7F1951-0833-4B60-A365-732CB266E76C}"/>
              </a:ext>
            </a:extLst>
          </p:cNvPr>
          <p:cNvSpPr>
            <a:spLocks xmlns:a="http://schemas.openxmlformats.org/drawingml/2006/main" noGrp="1"/>
          </p:cNvSpPr>
          <p:nvPr/>
        </p:nvSpPr>
        <p:spPr>
          <a:xfrm xmlns:a="http://schemas.openxmlformats.org/drawingml/2006/main">
            <a:off x="742950" y="2409825"/>
            <a:ext cx="2809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What the source actually supplied: amount, currency, date, merchant wording, event type, source identity, and evidence excerpt.</a:t>
            </a:r>
          </a:p>
        </p:txBody>
      </p:sp>
      <p:sp>
        <p:nvSpPr>
          <p:cNvPr id="6" name="">
            <a:extLst xmlns:a="http://schemas.openxmlformats.org/drawingml/2006/main">
              <a:ext uri="{FF2B5EF4-FFF2-40B4-BE49-F238E27FC236}">
                <a16:creationId xmlns:a16="http://schemas.microsoft.com/office/drawing/2014/main" id="{BB6ADF59-2B67-466E-9E65-CFD56260CDA0}"/>
              </a:ext>
            </a:extLst>
          </p:cNvPr>
          <p:cNvSpPr>
            <a:spLocks xmlns:a="http://schemas.openxmlformats.org/drawingml/2006/main" noGrp="1"/>
          </p:cNvSpPr>
          <p:nvPr/>
        </p:nvSpPr>
        <p:spPr>
          <a:xfrm xmlns:a="http://schemas.openxmlformats.org/drawingml/2006/main">
            <a:off x="4686300" y="195262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1F7A78"/>
                </a:solidFill>
                <a:latin typeface="Helvetica Neue"/>
                <a:ea typeface="Helvetica Neue"/>
                <a:cs typeface="Helvetica Neue"/>
              </a:defRPr>
            </a:pPr>
            <a:r>
              <a:rPr sz="1725" b="1">
                <a:solidFill>
                  <a:srgbClr val="1F7A78"/>
                </a:solidFill>
                <a:latin typeface="Helvetica Neue"/>
                <a:ea typeface="Helvetica Neue"/>
                <a:cs typeface="Helvetica Neue"/>
              </a:rPr>
              <a:t>System interpretation</a:t>
            </a:r>
          </a:p>
        </p:txBody>
      </p:sp>
      <p:sp>
        <p:nvSpPr>
          <p:cNvPr id="7" name="">
            <a:extLst xmlns:a="http://schemas.openxmlformats.org/drawingml/2006/main">
              <a:ext uri="{FF2B5EF4-FFF2-40B4-BE49-F238E27FC236}">
                <a16:creationId xmlns:a16="http://schemas.microsoft.com/office/drawing/2014/main" id="{3F232A3E-BF75-4004-B5DB-ADD998243133}"/>
              </a:ext>
            </a:extLst>
          </p:cNvPr>
          <p:cNvSpPr>
            <a:spLocks xmlns:a="http://schemas.openxmlformats.org/drawingml/2006/main" noGrp="1"/>
          </p:cNvSpPr>
          <p:nvPr/>
        </p:nvSpPr>
        <p:spPr>
          <a:xfrm xmlns:a="http://schemas.openxmlformats.org/drawingml/2006/main">
            <a:off x="4686300" y="2409825"/>
            <a:ext cx="2809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A suggested label or review reason. It helps the person review the record but must never replace the source facts.</a:t>
            </a:r>
          </a:p>
        </p:txBody>
      </p:sp>
      <p:sp>
        <p:nvSpPr>
          <p:cNvPr id="8" name="">
            <a:extLst xmlns:a="http://schemas.openxmlformats.org/drawingml/2006/main">
              <a:ext uri="{FF2B5EF4-FFF2-40B4-BE49-F238E27FC236}">
                <a16:creationId xmlns:a16="http://schemas.microsoft.com/office/drawing/2014/main" id="{08EA414B-C568-4838-B205-E9BE420EA2B6}"/>
              </a:ext>
            </a:extLst>
          </p:cNvPr>
          <p:cNvSpPr>
            <a:spLocks xmlns:a="http://schemas.openxmlformats.org/drawingml/2006/main" noGrp="1"/>
          </p:cNvSpPr>
          <p:nvPr/>
        </p:nvSpPr>
        <p:spPr>
          <a:xfrm xmlns:a="http://schemas.openxmlformats.org/drawingml/2006/main">
            <a:off x="8629650" y="19526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A65B3C"/>
                </a:solidFill>
                <a:latin typeface="Helvetica Neue"/>
                <a:ea typeface="Helvetica Neue"/>
                <a:cs typeface="Helvetica Neue"/>
              </a:defRPr>
            </a:pPr>
            <a:r>
              <a:rPr sz="1725" b="1">
                <a:solidFill>
                  <a:srgbClr val="A65B3C"/>
                </a:solidFill>
                <a:latin typeface="Helvetica Neue"/>
                <a:ea typeface="Helvetica Neue"/>
                <a:cs typeface="Helvetica Neue"/>
              </a:rPr>
              <a:t>User decision</a:t>
            </a:r>
          </a:p>
        </p:txBody>
      </p:sp>
      <p:sp>
        <p:nvSpPr>
          <p:cNvPr id="9" name="">
            <a:extLst xmlns:a="http://schemas.openxmlformats.org/drawingml/2006/main">
              <a:ext uri="{FF2B5EF4-FFF2-40B4-BE49-F238E27FC236}">
                <a16:creationId xmlns:a16="http://schemas.microsoft.com/office/drawing/2014/main" id="{02F00C93-6067-4970-853A-FB028B51BB07}"/>
              </a:ext>
            </a:extLst>
          </p:cNvPr>
          <p:cNvSpPr>
            <a:spLocks xmlns:a="http://schemas.openxmlformats.org/drawingml/2006/main" noGrp="1"/>
          </p:cNvSpPr>
          <p:nvPr/>
        </p:nvSpPr>
        <p:spPr>
          <a:xfrm xmlns:a="http://schemas.openxmlformats.org/drawingml/2006/main">
            <a:off x="8629650" y="2409825"/>
            <a:ext cx="257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Accepted, corrected, excluded, or pending. Corrections change the displayed or counted result while keeping original evidence visible.</a:t>
            </a:r>
          </a:p>
        </p:txBody>
      </p:sp>
      <p:sp>
        <p:nvSpPr>
          <p:cNvPr id="10" name="">
            <a:extLst xmlns:a="http://schemas.openxmlformats.org/drawingml/2006/main">
              <a:ext uri="{FF2B5EF4-FFF2-40B4-BE49-F238E27FC236}">
                <a16:creationId xmlns:a16="http://schemas.microsoft.com/office/drawing/2014/main" id="{9F9447D8-67F3-4F40-AB09-3318A0FA9D21}"/>
              </a:ext>
            </a:extLst>
          </p:cNvPr>
          <p:cNvSpPr>
            <a:spLocks xmlns:a="http://schemas.openxmlformats.org/drawingml/2006/main" noGrp="1"/>
          </p:cNvSpPr>
          <p:nvPr/>
        </p:nvSpPr>
        <p:spPr>
          <a:xfrm xmlns:a="http://schemas.openxmlformats.org/drawingml/2006/main">
            <a:off x="876300" y="483870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459"/>
          </a:bodyPr>
          <a:lstStyle xmlns:a="http://schemas.openxmlformats.org/drawingml/2006/main"/>
          <a:p xmlns:a="http://schemas.openxmlformats.org/drawingml/2006/main">
            <a:pPr>
              <a:defRPr sz="1725" b="1">
                <a:solidFill>
                  <a:srgbClr val="092639"/>
                </a:solidFill>
                <a:latin typeface="Helvetica Neue"/>
                <a:ea typeface="Helvetica Neue"/>
                <a:cs typeface="Helvetica Neue"/>
              </a:defRPr>
            </a:pPr>
            <a:r>
              <a:rPr sz="1725" b="1">
                <a:solidFill>
                  <a:srgbClr val="092639"/>
                </a:solidFill>
                <a:latin typeface="Helvetica Neue"/>
                <a:ea typeface="Helvetica Neue"/>
                <a:cs typeface="Helvetica Neue"/>
              </a:rPr>
              <a:t>A missing amount, unclear type, or unsupported message stays incomplete or unclassified. The app never invents a money fact.</a:t>
            </a:r>
          </a:p>
        </p:txBody>
      </p:sp>
    </p:spTree>
    <p:extLst>
      <p:ext uri="{BB962C8B-B14F-4D97-AF65-F5344CB8AC3E}">
        <p14:creationId xmlns:p14="http://schemas.microsoft.com/office/powerpoint/2010/main" val="859082618"/>
      </p:ext>
    </p:extLst>
  </p:cSld>
</p:sld>
</file>

<file path=ppt/slides/slide5.xml><?xml version="1.0" encoding="utf-8"?>
<p:sld xmlns:p="http://schemas.openxmlformats.org/presentationml/2006/main">
  <p:cSld>
    <p:bg>
      <p:bgPr>
        <a:solidFill xmlns:a="http://schemas.openxmlformats.org/drawingml/2006/main">
          <a:srgbClr val="09263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3348AE-7C4E-402D-932C-8B5EA52A1B73}"/>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The current technology base is small and inspectable</a:t>
            </a:r>
          </a:p>
        </p:txBody>
      </p:sp>
      <p:sp>
        <p:nvSpPr>
          <p:cNvPr id="2" name="">
            <a:extLst xmlns:a="http://schemas.openxmlformats.org/drawingml/2006/main">
              <a:ext uri="{FF2B5EF4-FFF2-40B4-BE49-F238E27FC236}">
                <a16:creationId xmlns:a16="http://schemas.microsoft.com/office/drawing/2014/main" id="{C4232978-0E10-465F-80D3-AE6117C35E15}"/>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B8D7D2"/>
                </a:solidFill>
                <a:latin typeface="Helvetica Neue"/>
                <a:ea typeface="Helvetica Neue"/>
                <a:cs typeface="Helvetica Neue"/>
              </a:defRPr>
            </a:pPr>
            <a:r>
              <a:rPr sz="1200" b="0">
                <a:solidFill>
                  <a:srgbClr val="B8D7D2"/>
                </a:solidFill>
                <a:latin typeface="Helvetica Neue"/>
                <a:ea typeface="Helvetica Neue"/>
                <a:cs typeface="Helvetica Neue"/>
              </a:rPr>
              <a:t>Sprint 2 should extend the existing domain logic rather than rebuild it</a:t>
            </a:r>
          </a:p>
        </p:txBody>
      </p:sp>
      <p:sp>
        <p:nvSpPr>
          <p:cNvPr id="3" name="">
            <a:extLst xmlns:a="http://schemas.openxmlformats.org/drawingml/2006/main">
              <a:ext uri="{FF2B5EF4-FFF2-40B4-BE49-F238E27FC236}">
                <a16:creationId xmlns:a16="http://schemas.microsoft.com/office/drawing/2014/main" id="{C52A0EBA-9067-46EF-82DE-9B3D585FBCA6}"/>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05</a:t>
            </a:r>
          </a:p>
        </p:txBody>
      </p:sp>
      <p:sp>
        <p:nvSpPr>
          <p:cNvPr id="4" name="">
            <a:extLst xmlns:a="http://schemas.openxmlformats.org/drawingml/2006/main">
              <a:ext uri="{FF2B5EF4-FFF2-40B4-BE49-F238E27FC236}">
                <a16:creationId xmlns:a16="http://schemas.microsoft.com/office/drawing/2014/main" id="{68D8D8DA-5037-4573-A1A7-FE3432B80E10}"/>
              </a:ext>
            </a:extLst>
          </p:cNvPr>
          <p:cNvSpPr>
            <a:spLocks xmlns:a="http://schemas.openxmlformats.org/drawingml/2006/main" noGrp="1"/>
          </p:cNvSpPr>
          <p:nvPr/>
        </p:nvSpPr>
        <p:spPr>
          <a:xfrm xmlns:a="http://schemas.openxmlformats.org/drawingml/2006/main">
            <a:off x="781050" y="18573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A8D9CD"/>
                </a:solidFill>
                <a:latin typeface="Helvetica Neue"/>
                <a:ea typeface="Helvetica Neue"/>
                <a:cs typeface="Helvetica Neue"/>
              </a:defRPr>
            </a:pPr>
            <a:r>
              <a:rPr sz="1425" b="1">
                <a:solidFill>
                  <a:srgbClr val="A8D9CD"/>
                </a:solidFill>
                <a:latin typeface="Helvetica Neue"/>
                <a:ea typeface="Helvetica Neue"/>
                <a:cs typeface="Helvetica Neue"/>
              </a:rPr>
              <a:t>Web application</a:t>
            </a:r>
          </a:p>
        </p:txBody>
      </p:sp>
      <p:sp>
        <p:nvSpPr>
          <p:cNvPr id="5" name="">
            <a:extLst xmlns:a="http://schemas.openxmlformats.org/drawingml/2006/main">
              <a:ext uri="{FF2B5EF4-FFF2-40B4-BE49-F238E27FC236}">
                <a16:creationId xmlns:a16="http://schemas.microsoft.com/office/drawing/2014/main" id="{E36063C9-889E-4941-8629-AEFA01657E5E}"/>
              </a:ext>
            </a:extLst>
          </p:cNvPr>
          <p:cNvSpPr>
            <a:spLocks xmlns:a="http://schemas.openxmlformats.org/drawingml/2006/main" noGrp="1"/>
          </p:cNvSpPr>
          <p:nvPr/>
        </p:nvSpPr>
        <p:spPr>
          <a:xfrm xmlns:a="http://schemas.openxmlformats.org/drawingml/2006/main">
            <a:off x="781050" y="225742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Next.js 16.3.5</a:t>
            </a:r>
          </a:p>
          <a:p xmlns:a="http://schemas.openxmlformats.org/drawingml/2006/main">
            <a:pPr>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React 19.2.8</a:t>
            </a:r>
          </a:p>
          <a:p xmlns:a="http://schemas.openxmlformats.org/drawingml/2006/main">
            <a:pPr>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TypeScript</a:t>
            </a:r>
          </a:p>
          <a:p xmlns:a="http://schemas.openxmlformats.org/drawingml/2006/main">
            <a:pPr>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Tailwind CSS 4</a:t>
            </a:r>
          </a:p>
        </p:txBody>
      </p:sp>
      <p:sp>
        <p:nvSpPr>
          <p:cNvPr id="6" name="">
            <a:extLst xmlns:a="http://schemas.openxmlformats.org/drawingml/2006/main">
              <a:ext uri="{FF2B5EF4-FFF2-40B4-BE49-F238E27FC236}">
                <a16:creationId xmlns:a16="http://schemas.microsoft.com/office/drawing/2014/main" id="{108FB1DF-7CD2-4043-A870-9F7507D48DBF}"/>
              </a:ext>
            </a:extLst>
          </p:cNvPr>
          <p:cNvSpPr>
            <a:spLocks xmlns:a="http://schemas.openxmlformats.org/drawingml/2006/main" noGrp="1"/>
          </p:cNvSpPr>
          <p:nvPr/>
        </p:nvSpPr>
        <p:spPr>
          <a:xfrm xmlns:a="http://schemas.openxmlformats.org/drawingml/2006/main">
            <a:off x="4400550" y="18573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A8D9CD"/>
                </a:solidFill>
                <a:latin typeface="Helvetica Neue"/>
                <a:ea typeface="Helvetica Neue"/>
                <a:cs typeface="Helvetica Neue"/>
              </a:defRPr>
            </a:pPr>
            <a:r>
              <a:rPr sz="1425" b="1">
                <a:solidFill>
                  <a:srgbClr val="A8D9CD"/>
                </a:solidFill>
                <a:latin typeface="Helvetica Neue"/>
                <a:ea typeface="Helvetica Neue"/>
                <a:cs typeface="Helvetica Neue"/>
              </a:rPr>
              <a:t>Domain logic</a:t>
            </a:r>
          </a:p>
        </p:txBody>
      </p:sp>
      <p:sp>
        <p:nvSpPr>
          <p:cNvPr id="7" name="">
            <a:extLst xmlns:a="http://schemas.openxmlformats.org/drawingml/2006/main">
              <a:ext uri="{FF2B5EF4-FFF2-40B4-BE49-F238E27FC236}">
                <a16:creationId xmlns:a16="http://schemas.microsoft.com/office/drawing/2014/main" id="{6FB5BEB3-B86F-483E-B2A1-C09F29C22227}"/>
              </a:ext>
            </a:extLst>
          </p:cNvPr>
          <p:cNvSpPr>
            <a:spLocks xmlns:a="http://schemas.openxmlformats.org/drawingml/2006/main" noGrp="1"/>
          </p:cNvSpPr>
          <p:nvPr/>
        </p:nvSpPr>
        <p:spPr>
          <a:xfrm xmlns:a="http://schemas.openxmlformats.org/drawingml/2006/main">
            <a:off x="4400550" y="2257425"/>
            <a:ext cx="2714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Source artifact model</a:t>
            </a:r>
          </a:p>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Transaction parser</a:t>
            </a:r>
          </a:p>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Lifecycle and duplicate policy</a:t>
            </a:r>
          </a:p>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Reporting-currency calculation</a:t>
            </a:r>
          </a:p>
        </p:txBody>
      </p:sp>
      <p:sp>
        <p:nvSpPr>
          <p:cNvPr id="8" name="">
            <a:extLst xmlns:a="http://schemas.openxmlformats.org/drawingml/2006/main">
              <a:ext uri="{FF2B5EF4-FFF2-40B4-BE49-F238E27FC236}">
                <a16:creationId xmlns:a16="http://schemas.microsoft.com/office/drawing/2014/main" id="{120E1DB8-0ED1-494E-898D-632318983F02}"/>
              </a:ext>
            </a:extLst>
          </p:cNvPr>
          <p:cNvSpPr>
            <a:spLocks xmlns:a="http://schemas.openxmlformats.org/drawingml/2006/main" noGrp="1"/>
          </p:cNvSpPr>
          <p:nvPr/>
        </p:nvSpPr>
        <p:spPr>
          <a:xfrm xmlns:a="http://schemas.openxmlformats.org/drawingml/2006/main">
            <a:off x="8172450" y="18573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A8D9CD"/>
                </a:solidFill>
                <a:latin typeface="Helvetica Neue"/>
                <a:ea typeface="Helvetica Neue"/>
                <a:cs typeface="Helvetica Neue"/>
              </a:defRPr>
            </a:pPr>
            <a:r>
              <a:rPr sz="1425" b="1">
                <a:solidFill>
                  <a:srgbClr val="A8D9CD"/>
                </a:solidFill>
                <a:latin typeface="Helvetica Neue"/>
                <a:ea typeface="Helvetica Neue"/>
                <a:cs typeface="Helvetica Neue"/>
              </a:rPr>
              <a:t>Quality baseline</a:t>
            </a:r>
          </a:p>
        </p:txBody>
      </p:sp>
      <p:sp>
        <p:nvSpPr>
          <p:cNvPr id="9" name="">
            <a:extLst xmlns:a="http://schemas.openxmlformats.org/drawingml/2006/main">
              <a:ext uri="{FF2B5EF4-FFF2-40B4-BE49-F238E27FC236}">
                <a16:creationId xmlns:a16="http://schemas.microsoft.com/office/drawing/2014/main" id="{56D10A7D-C47A-4868-ADAD-D633F92947A8}"/>
              </a:ext>
            </a:extLst>
          </p:cNvPr>
          <p:cNvSpPr>
            <a:spLocks xmlns:a="http://schemas.openxmlformats.org/drawingml/2006/main" noGrp="1"/>
          </p:cNvSpPr>
          <p:nvPr/>
        </p:nvSpPr>
        <p:spPr>
          <a:xfrm xmlns:a="http://schemas.openxmlformats.org/drawingml/2006/main">
            <a:off x="8172450" y="2257425"/>
            <a:ext cx="266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Fictional JSON fixtures</a:t>
            </a:r>
          </a:p>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Node test runner</a:t>
            </a:r>
          </a:p>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TypeScript and ESLint</a:t>
            </a:r>
          </a:p>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Browser-local persistence</a:t>
            </a:r>
          </a:p>
        </p:txBody>
      </p:sp>
      <p:sp>
        <p:nvSpPr>
          <p:cNvPr id="10" name="">
            <a:extLst xmlns:a="http://schemas.openxmlformats.org/drawingml/2006/main">
              <a:ext uri="{FF2B5EF4-FFF2-40B4-BE49-F238E27FC236}">
                <a16:creationId xmlns:a16="http://schemas.microsoft.com/office/drawing/2014/main" id="{7D80F72B-ECC4-49A2-9611-9C2FF906CEC4}"/>
              </a:ext>
            </a:extLst>
          </p:cNvPr>
          <p:cNvSpPr>
            <a:spLocks xmlns:a="http://schemas.openxmlformats.org/drawingml/2006/main" noGrp="1"/>
          </p:cNvSpPr>
          <p:nvPr/>
        </p:nvSpPr>
        <p:spPr>
          <a:xfrm xmlns:a="http://schemas.openxmlformats.org/drawingml/2006/main">
            <a:off x="781050" y="4762500"/>
            <a:ext cx="981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03"/>
          </a:bodyPr>
          <a:lstStyle xmlns:a="http://schemas.openxmlformats.org/drawingml/2006/main"/>
          <a:p xmlns:a="http://schemas.openxmlformats.org/drawingml/2006/main">
            <a:pPr>
              <a:defRPr sz="1650" b="0">
                <a:solidFill>
                  <a:srgbClr val="D7E9E5"/>
                </a:solidFill>
                <a:latin typeface="Helvetica Neue"/>
                <a:ea typeface="Helvetica Neue"/>
                <a:cs typeface="Helvetica Neue"/>
              </a:defRPr>
            </a:pPr>
            <a:r>
              <a:rPr sz="1650" b="0">
                <a:solidFill>
                  <a:srgbClr val="D7E9E5"/>
                </a:solidFill>
                <a:latin typeface="Helvetica Neue"/>
                <a:ea typeface="Helvetica Neue"/>
                <a:cs typeface="Helvetica Neue"/>
              </a:rPr>
              <a:t>Current limitation: the persistence layer uses browser local storage. The database role replaces that boundary for invited users while preserving the existing logic.</a:t>
            </a:r>
          </a:p>
        </p:txBody>
      </p:sp>
    </p:spTree>
    <p:extLst>
      <p:ext uri="{BB962C8B-B14F-4D97-AF65-F5344CB8AC3E}">
        <p14:creationId xmlns:p14="http://schemas.microsoft.com/office/powerpoint/2010/main" val="1295373707"/>
      </p:ext>
    </p:extLst>
  </p:cSld>
</p:sld>
</file>

<file path=ppt/slides/slide6.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11E4D0-648F-42C4-943C-0E65E559A65D}"/>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92639"/>
                </a:solidFill>
                <a:latin typeface="Helvetica Neue"/>
                <a:ea typeface="Helvetica Neue"/>
                <a:cs typeface="Helvetica Neue"/>
              </a:defRPr>
            </a:pPr>
            <a:r>
              <a:rPr sz="2700" b="1">
                <a:solidFill>
                  <a:srgbClr val="092639"/>
                </a:solidFill>
                <a:latin typeface="Helvetica Neue"/>
                <a:ea typeface="Helvetica Neue"/>
                <a:cs typeface="Helvetica Neue"/>
              </a:rPr>
              <a:t>The current logic protects against misleading totals</a:t>
            </a:r>
          </a:p>
        </p:txBody>
      </p:sp>
      <p:sp>
        <p:nvSpPr>
          <p:cNvPr id="2" name="">
            <a:extLst xmlns:a="http://schemas.openxmlformats.org/drawingml/2006/main">
              <a:ext uri="{FF2B5EF4-FFF2-40B4-BE49-F238E27FC236}">
                <a16:creationId xmlns:a16="http://schemas.microsoft.com/office/drawing/2014/main" id="{66659FC2-2553-4380-833E-D6228261D8D0}"/>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E7180"/>
                </a:solidFill>
                <a:latin typeface="Helvetica Neue"/>
                <a:ea typeface="Helvetica Neue"/>
                <a:cs typeface="Helvetica Neue"/>
              </a:defRPr>
            </a:pPr>
            <a:r>
              <a:rPr sz="1200" b="0">
                <a:solidFill>
                  <a:srgbClr val="5E7180"/>
                </a:solidFill>
                <a:latin typeface="Helvetica Neue"/>
                <a:ea typeface="Helvetica Neue"/>
                <a:cs typeface="Helvetica Neue"/>
              </a:rPr>
              <a:t>The same rules must apply after the source and persistence become real</a:t>
            </a:r>
          </a:p>
        </p:txBody>
      </p:sp>
      <p:sp>
        <p:nvSpPr>
          <p:cNvPr id="3" name="">
            <a:extLst xmlns:a="http://schemas.openxmlformats.org/drawingml/2006/main">
              <a:ext uri="{FF2B5EF4-FFF2-40B4-BE49-F238E27FC236}">
                <a16:creationId xmlns:a16="http://schemas.microsoft.com/office/drawing/2014/main" id="{B46CA93E-979C-4726-88B0-37DF430E6529}"/>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06</a:t>
            </a:r>
          </a:p>
        </p:txBody>
      </p:sp>
      <p:sp>
        <p:nvSpPr>
          <p:cNvPr id="4" name="">
            <a:extLst xmlns:a="http://schemas.openxmlformats.org/drawingml/2006/main">
              <a:ext uri="{FF2B5EF4-FFF2-40B4-BE49-F238E27FC236}">
                <a16:creationId xmlns:a16="http://schemas.microsoft.com/office/drawing/2014/main" id="{08B0F7CF-C998-4343-A1C6-82654865400F}"/>
              </a:ext>
            </a:extLst>
          </p:cNvPr>
          <p:cNvSpPr>
            <a:spLocks xmlns:a="http://schemas.openxmlformats.org/drawingml/2006/main" noGrp="1"/>
          </p:cNvSpPr>
          <p:nvPr/>
        </p:nvSpPr>
        <p:spPr>
          <a:xfrm xmlns:a="http://schemas.openxmlformats.org/drawingml/2006/main">
            <a:off x="762000" y="1857375"/>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Replay protection</a:t>
            </a:r>
          </a:p>
        </p:txBody>
      </p:sp>
      <p:sp>
        <p:nvSpPr>
          <p:cNvPr id="5" name="">
            <a:extLst xmlns:a="http://schemas.openxmlformats.org/drawingml/2006/main">
              <a:ext uri="{FF2B5EF4-FFF2-40B4-BE49-F238E27FC236}">
                <a16:creationId xmlns:a16="http://schemas.microsoft.com/office/drawing/2014/main" id="{79E0CA5D-99A9-4510-BF64-DEEB3FBA9AC6}"/>
              </a:ext>
            </a:extLst>
          </p:cNvPr>
          <p:cNvSpPr>
            <a:spLocks xmlns:a="http://schemas.openxmlformats.org/drawingml/2006/main" noGrp="1"/>
          </p:cNvSpPr>
          <p:nvPr/>
        </p:nvSpPr>
        <p:spPr>
          <a:xfrm xmlns:a="http://schemas.openxmlformats.org/drawingml/2006/main">
            <a:off x="762000" y="2143125"/>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The same source ID and event ID stays one economic event when processed again.</a:t>
            </a:r>
          </a:p>
        </p:txBody>
      </p:sp>
      <p:sp>
        <p:nvSpPr>
          <p:cNvPr id="6" name="">
            <a:extLst xmlns:a="http://schemas.openxmlformats.org/drawingml/2006/main">
              <a:ext uri="{FF2B5EF4-FFF2-40B4-BE49-F238E27FC236}">
                <a16:creationId xmlns:a16="http://schemas.microsoft.com/office/drawing/2014/main" id="{A7B9CCC8-5603-4175-B79E-BABA98A0F67B}"/>
              </a:ext>
            </a:extLst>
          </p:cNvPr>
          <p:cNvSpPr>
            <a:spLocks xmlns:a="http://schemas.openxmlformats.org/drawingml/2006/main" noGrp="1"/>
          </p:cNvSpPr>
          <p:nvPr/>
        </p:nvSpPr>
        <p:spPr>
          <a:xfrm xmlns:a="http://schemas.openxmlformats.org/drawingml/2006/main">
            <a:off x="4381500" y="1857375"/>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Duplicate caution</a:t>
            </a:r>
          </a:p>
        </p:txBody>
      </p:sp>
      <p:sp>
        <p:nvSpPr>
          <p:cNvPr id="7" name="">
            <a:extLst xmlns:a="http://schemas.openxmlformats.org/drawingml/2006/main">
              <a:ext uri="{FF2B5EF4-FFF2-40B4-BE49-F238E27FC236}">
                <a16:creationId xmlns:a16="http://schemas.microsoft.com/office/drawing/2014/main" id="{FD92D43A-53B6-4E21-9826-BDE4353502AE}"/>
              </a:ext>
            </a:extLst>
          </p:cNvPr>
          <p:cNvSpPr>
            <a:spLocks xmlns:a="http://schemas.openxmlformats.org/drawingml/2006/main" noGrp="1"/>
          </p:cNvSpPr>
          <p:nvPr/>
        </p:nvSpPr>
        <p:spPr>
          <a:xfrm xmlns:a="http://schemas.openxmlformats.org/drawingml/2006/main">
            <a:off x="4381500" y="2143125"/>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Sparse or approximate matches remain visible and counted until a person explicitly resolves them.</a:t>
            </a:r>
          </a:p>
        </p:txBody>
      </p:sp>
      <p:sp>
        <p:nvSpPr>
          <p:cNvPr id="8" name="">
            <a:extLst xmlns:a="http://schemas.openxmlformats.org/drawingml/2006/main">
              <a:ext uri="{FF2B5EF4-FFF2-40B4-BE49-F238E27FC236}">
                <a16:creationId xmlns:a16="http://schemas.microsoft.com/office/drawing/2014/main" id="{7EBDAA56-721F-475F-9DC2-66E1A880CA03}"/>
              </a:ext>
            </a:extLst>
          </p:cNvPr>
          <p:cNvSpPr>
            <a:spLocks xmlns:a="http://schemas.openxmlformats.org/drawingml/2006/main" noGrp="1"/>
          </p:cNvSpPr>
          <p:nvPr/>
        </p:nvSpPr>
        <p:spPr>
          <a:xfrm xmlns:a="http://schemas.openxmlformats.org/drawingml/2006/main">
            <a:off x="8001000" y="1857375"/>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Unknown means unknown</a:t>
            </a:r>
          </a:p>
        </p:txBody>
      </p:sp>
      <p:sp>
        <p:nvSpPr>
          <p:cNvPr id="9" name="">
            <a:extLst xmlns:a="http://schemas.openxmlformats.org/drawingml/2006/main">
              <a:ext uri="{FF2B5EF4-FFF2-40B4-BE49-F238E27FC236}">
                <a16:creationId xmlns:a16="http://schemas.microsoft.com/office/drawing/2014/main" id="{BD868E90-A0F0-4C95-8D38-AC59BF754FF6}"/>
              </a:ext>
            </a:extLst>
          </p:cNvPr>
          <p:cNvSpPr>
            <a:spLocks xmlns:a="http://schemas.openxmlformats.org/drawingml/2006/main" noGrp="1"/>
          </p:cNvSpPr>
          <p:nvPr/>
        </p:nvSpPr>
        <p:spPr>
          <a:xfrm xmlns:a="http://schemas.openxmlformats.org/drawingml/2006/main">
            <a:off x="8001000" y="2143125"/>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An unclear event type has zero inflow or outflow effect until a person chooses Expense, Income, or Transfer.</a:t>
            </a:r>
          </a:p>
        </p:txBody>
      </p:sp>
      <p:sp>
        <p:nvSpPr>
          <p:cNvPr id="10" name="">
            <a:extLst xmlns:a="http://schemas.openxmlformats.org/drawingml/2006/main">
              <a:ext uri="{FF2B5EF4-FFF2-40B4-BE49-F238E27FC236}">
                <a16:creationId xmlns:a16="http://schemas.microsoft.com/office/drawing/2014/main" id="{A4207D9E-B819-4AF6-B2C5-DA4C19A29A7D}"/>
              </a:ext>
            </a:extLst>
          </p:cNvPr>
          <p:cNvSpPr>
            <a:spLocks xmlns:a="http://schemas.openxmlformats.org/drawingml/2006/main" noGrp="1"/>
          </p:cNvSpPr>
          <p:nvPr/>
        </p:nvSpPr>
        <p:spPr>
          <a:xfrm xmlns:a="http://schemas.openxmlformats.org/drawingml/2006/main">
            <a:off x="762000" y="3943350"/>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Coverage stays visible</a:t>
            </a:r>
          </a:p>
        </p:txBody>
      </p:sp>
      <p:sp>
        <p:nvSpPr>
          <p:cNvPr id="11" name="">
            <a:extLst xmlns:a="http://schemas.openxmlformats.org/drawingml/2006/main">
              <a:ext uri="{FF2B5EF4-FFF2-40B4-BE49-F238E27FC236}">
                <a16:creationId xmlns:a16="http://schemas.microsoft.com/office/drawing/2014/main" id="{A24126AC-80C2-4987-B9FE-F3652A1BFCA4}"/>
              </a:ext>
            </a:extLst>
          </p:cNvPr>
          <p:cNvSpPr>
            <a:spLocks xmlns:a="http://schemas.openxmlformats.org/drawingml/2006/main" noGrp="1"/>
          </p:cNvSpPr>
          <p:nvPr/>
        </p:nvSpPr>
        <p:spPr>
          <a:xfrm xmlns:a="http://schemas.openxmlformats.org/drawingml/2006/main">
            <a:off x="762000" y="422910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Totals state their period, currency, source selection, and pending treatment. They do not claim a bank balance.</a:t>
            </a:r>
          </a:p>
        </p:txBody>
      </p:sp>
      <p:sp>
        <p:nvSpPr>
          <p:cNvPr id="12" name="">
            <a:extLst xmlns:a="http://schemas.openxmlformats.org/drawingml/2006/main">
              <a:ext uri="{FF2B5EF4-FFF2-40B4-BE49-F238E27FC236}">
                <a16:creationId xmlns:a16="http://schemas.microsoft.com/office/drawing/2014/main" id="{B3F7EED4-1D0D-43CC-BEC9-EFA77079D90E}"/>
              </a:ext>
            </a:extLst>
          </p:cNvPr>
          <p:cNvSpPr>
            <a:spLocks xmlns:a="http://schemas.openxmlformats.org/drawingml/2006/main" noGrp="1"/>
          </p:cNvSpPr>
          <p:nvPr/>
        </p:nvSpPr>
        <p:spPr>
          <a:xfrm xmlns:a="http://schemas.openxmlformats.org/drawingml/2006/main">
            <a:off x="4381500" y="3943350"/>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Source corrections reopen review</a:t>
            </a:r>
          </a:p>
        </p:txBody>
      </p:sp>
      <p:sp>
        <p:nvSpPr>
          <p:cNvPr id="13" name="">
            <a:extLst xmlns:a="http://schemas.openxmlformats.org/drawingml/2006/main">
              <a:ext uri="{FF2B5EF4-FFF2-40B4-BE49-F238E27FC236}">
                <a16:creationId xmlns:a16="http://schemas.microsoft.com/office/drawing/2014/main" id="{1D9F5203-FE1C-4EA1-9E44-B78D6074B8F0}"/>
              </a:ext>
            </a:extLst>
          </p:cNvPr>
          <p:cNvSpPr>
            <a:spLocks xmlns:a="http://schemas.openxmlformats.org/drawingml/2006/main" noGrp="1"/>
          </p:cNvSpPr>
          <p:nvPr/>
        </p:nvSpPr>
        <p:spPr>
          <a:xfrm xmlns:a="http://schemas.openxmlformats.org/drawingml/2006/main">
            <a:off x="4381500" y="422910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97"/>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Material new evidence returns a previously confirmed record to attention while retaining the person’s prior correction.</a:t>
            </a:r>
          </a:p>
        </p:txBody>
      </p:sp>
      <p:sp>
        <p:nvSpPr>
          <p:cNvPr id="14" name="">
            <a:extLst xmlns:a="http://schemas.openxmlformats.org/drawingml/2006/main">
              <a:ext uri="{FF2B5EF4-FFF2-40B4-BE49-F238E27FC236}">
                <a16:creationId xmlns:a16="http://schemas.microsoft.com/office/drawing/2014/main" id="{439DD14E-18AD-49B3-96AF-E827728A1630}"/>
              </a:ext>
            </a:extLst>
          </p:cNvPr>
          <p:cNvSpPr>
            <a:spLocks xmlns:a="http://schemas.openxmlformats.org/drawingml/2006/main" noGrp="1"/>
          </p:cNvSpPr>
          <p:nvPr/>
        </p:nvSpPr>
        <p:spPr>
          <a:xfrm xmlns:a="http://schemas.openxmlformats.org/drawingml/2006/main">
            <a:off x="8001000" y="394335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Deletion has to be honest</a:t>
            </a:r>
          </a:p>
        </p:txBody>
      </p:sp>
      <p:sp>
        <p:nvSpPr>
          <p:cNvPr id="15" name="">
            <a:extLst xmlns:a="http://schemas.openxmlformats.org/drawingml/2006/main">
              <a:ext uri="{FF2B5EF4-FFF2-40B4-BE49-F238E27FC236}">
                <a16:creationId xmlns:a16="http://schemas.microsoft.com/office/drawing/2014/main" id="{9CAD81EA-F433-4983-BE71-BAAAC6330898}"/>
              </a:ext>
            </a:extLst>
          </p:cNvPr>
          <p:cNvSpPr>
            <a:spLocks xmlns:a="http://schemas.openxmlformats.org/drawingml/2006/main" noGrp="1"/>
          </p:cNvSpPr>
          <p:nvPr/>
        </p:nvSpPr>
        <p:spPr>
          <a:xfrm xmlns:a="http://schemas.openxmlformats.org/drawingml/2006/main">
            <a:off x="8001000" y="422910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Sprint 2 must specify what source data, decisions, and any replay-prevention marker remain after deletion.</a:t>
            </a:r>
          </a:p>
        </p:txBody>
      </p:sp>
    </p:spTree>
    <p:extLst>
      <p:ext uri="{BB962C8B-B14F-4D97-AF65-F5344CB8AC3E}">
        <p14:creationId xmlns:p14="http://schemas.microsoft.com/office/powerpoint/2010/main" val="1970215189"/>
      </p:ext>
    </p:extLst>
  </p:cSld>
</p:sld>
</file>

<file path=ppt/slides/slide7.xml><?xml version="1.0" encoding="utf-8"?>
<p:sld xmlns:p="http://schemas.openxmlformats.org/presentationml/2006/main">
  <p:cSld>
    <p:bg>
      <p:bgPr>
        <a:solidFill xmlns:a="http://schemas.openxmlformats.org/drawingml/2006/main">
          <a:srgbClr val="EAF2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5B0A7E-54D9-471F-BADF-349847B27AEB}"/>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92639"/>
                </a:solidFill>
                <a:latin typeface="Helvetica Neue"/>
                <a:ea typeface="Helvetica Neue"/>
                <a:cs typeface="Helvetica Neue"/>
              </a:defRPr>
            </a:pPr>
            <a:r>
              <a:rPr sz="2700" b="1">
                <a:solidFill>
                  <a:srgbClr val="092639"/>
                </a:solidFill>
                <a:latin typeface="Helvetica Neue"/>
                <a:ea typeface="Helvetica Neue"/>
                <a:cs typeface="Helvetica Neue"/>
              </a:rPr>
              <a:t>Sprint 2 builds one complete invited-user journey</a:t>
            </a:r>
          </a:p>
        </p:txBody>
      </p:sp>
      <p:sp>
        <p:nvSpPr>
          <p:cNvPr id="2" name="">
            <a:extLst xmlns:a="http://schemas.openxmlformats.org/drawingml/2006/main">
              <a:ext uri="{FF2B5EF4-FFF2-40B4-BE49-F238E27FC236}">
                <a16:creationId xmlns:a16="http://schemas.microsoft.com/office/drawing/2014/main" id="{F153C183-6201-420F-B793-178EBEC1D636}"/>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E7180"/>
                </a:solidFill>
                <a:latin typeface="Helvetica Neue"/>
                <a:ea typeface="Helvetica Neue"/>
                <a:cs typeface="Helvetica Neue"/>
              </a:defRPr>
            </a:pPr>
            <a:r>
              <a:rPr sz="1200" b="0">
                <a:solidFill>
                  <a:srgbClr val="5E7180"/>
                </a:solidFill>
                <a:latin typeface="Helvetica Neue"/>
                <a:ea typeface="Helvetica Neue"/>
                <a:cs typeface="Helvetica Neue"/>
              </a:rPr>
              <a:t>Keep the scope narrow enough to learn from real use</a:t>
            </a:r>
          </a:p>
        </p:txBody>
      </p:sp>
      <p:sp>
        <p:nvSpPr>
          <p:cNvPr id="3" name="">
            <a:extLst xmlns:a="http://schemas.openxmlformats.org/drawingml/2006/main">
              <a:ext uri="{FF2B5EF4-FFF2-40B4-BE49-F238E27FC236}">
                <a16:creationId xmlns:a16="http://schemas.microsoft.com/office/drawing/2014/main" id="{EE02B8E6-258B-42AF-90E7-244522EA78CC}"/>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07</a:t>
            </a:r>
          </a:p>
        </p:txBody>
      </p:sp>
      <p:sp>
        <p:nvSpPr>
          <p:cNvPr id="4" name="">
            <a:extLst xmlns:a="http://schemas.openxmlformats.org/drawingml/2006/main">
              <a:ext uri="{FF2B5EF4-FFF2-40B4-BE49-F238E27FC236}">
                <a16:creationId xmlns:a16="http://schemas.microsoft.com/office/drawing/2014/main" id="{02674C66-B2C0-40A4-B862-8D8C552C4823}"/>
              </a:ext>
            </a:extLst>
          </p:cNvPr>
          <p:cNvSpPr>
            <a:spLocks xmlns:a="http://schemas.openxmlformats.org/drawingml/2006/main" noGrp="1"/>
          </p:cNvSpPr>
          <p:nvPr/>
        </p:nvSpPr>
        <p:spPr>
          <a:xfrm xmlns:a="http://schemas.openxmlformats.org/drawingml/2006/main">
            <a:off x="695325" y="1952625"/>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092639"/>
                </a:solidFill>
                <a:latin typeface="Helvetica Neue"/>
                <a:ea typeface="Helvetica Neue"/>
                <a:cs typeface="Helvetica Neue"/>
              </a:defRPr>
            </a:pPr>
            <a:r>
              <a:rPr sz="1425" b="1">
                <a:solidFill>
                  <a:srgbClr val="092639"/>
                </a:solidFill>
                <a:latin typeface="Helvetica Neue"/>
                <a:ea typeface="Helvetica Neue"/>
                <a:cs typeface="Helvetica Neue"/>
              </a:rPr>
              <a:t>Invited access</a:t>
            </a:r>
          </a:p>
        </p:txBody>
      </p:sp>
      <p:sp>
        <p:nvSpPr>
          <p:cNvPr id="5" name="">
            <a:extLst xmlns:a="http://schemas.openxmlformats.org/drawingml/2006/main">
              <a:ext uri="{FF2B5EF4-FFF2-40B4-BE49-F238E27FC236}">
                <a16:creationId xmlns:a16="http://schemas.microsoft.com/office/drawing/2014/main" id="{E26D6A10-36E7-4C44-AB07-0EFB25803634}"/>
              </a:ext>
            </a:extLst>
          </p:cNvPr>
          <p:cNvSpPr>
            <a:spLocks xmlns:a="http://schemas.openxmlformats.org/drawingml/2006/main" noGrp="1"/>
          </p:cNvSpPr>
          <p:nvPr/>
        </p:nvSpPr>
        <p:spPr>
          <a:xfrm xmlns:a="http://schemas.openxmlformats.org/drawingml/2006/main">
            <a:off x="2524125" y="1952625"/>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Authorize Gmail or import one artifact</a:t>
            </a:r>
          </a:p>
        </p:txBody>
      </p:sp>
      <p:sp>
        <p:nvSpPr>
          <p:cNvPr id="6" name="">
            <a:extLst xmlns:a="http://schemas.openxmlformats.org/drawingml/2006/main">
              <a:ext uri="{FF2B5EF4-FFF2-40B4-BE49-F238E27FC236}">
                <a16:creationId xmlns:a16="http://schemas.microsoft.com/office/drawing/2014/main" id="{005D67E2-E541-43CA-AFC1-6FF92C9DDA1E}"/>
              </a:ext>
            </a:extLst>
          </p:cNvPr>
          <p:cNvSpPr>
            <a:spLocks xmlns:a="http://schemas.openxmlformats.org/drawingml/2006/main" noGrp="1"/>
          </p:cNvSpPr>
          <p:nvPr/>
        </p:nvSpPr>
        <p:spPr>
          <a:xfrm xmlns:a="http://schemas.openxmlformats.org/drawingml/2006/main">
            <a:off x="5143500" y="1952625"/>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Detect and retain evidence</a:t>
            </a:r>
          </a:p>
        </p:txBody>
      </p:sp>
      <p:sp>
        <p:nvSpPr>
          <p:cNvPr id="7" name="">
            <a:extLst xmlns:a="http://schemas.openxmlformats.org/drawingml/2006/main">
              <a:ext uri="{FF2B5EF4-FFF2-40B4-BE49-F238E27FC236}">
                <a16:creationId xmlns:a16="http://schemas.microsoft.com/office/drawing/2014/main" id="{205CD701-0507-4740-93F4-0B812CB66037}"/>
              </a:ext>
            </a:extLst>
          </p:cNvPr>
          <p:cNvSpPr>
            <a:spLocks xmlns:a="http://schemas.openxmlformats.org/drawingml/2006/main" noGrp="1"/>
          </p:cNvSpPr>
          <p:nvPr/>
        </p:nvSpPr>
        <p:spPr>
          <a:xfrm xmlns:a="http://schemas.openxmlformats.org/drawingml/2006/main">
            <a:off x="7524750" y="19526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092639"/>
                </a:solidFill>
                <a:latin typeface="Helvetica Neue"/>
                <a:ea typeface="Helvetica Neue"/>
                <a:cs typeface="Helvetica Neue"/>
              </a:defRPr>
            </a:pPr>
            <a:r>
              <a:rPr sz="1425" b="1">
                <a:solidFill>
                  <a:srgbClr val="092639"/>
                </a:solidFill>
                <a:latin typeface="Helvetica Neue"/>
                <a:ea typeface="Helvetica Neue"/>
                <a:cs typeface="Helvetica Neue"/>
              </a:rPr>
              <a:t>Review or correct</a:t>
            </a:r>
          </a:p>
        </p:txBody>
      </p:sp>
      <p:sp>
        <p:nvSpPr>
          <p:cNvPr id="8" name="">
            <a:extLst xmlns:a="http://schemas.openxmlformats.org/drawingml/2006/main">
              <a:ext uri="{FF2B5EF4-FFF2-40B4-BE49-F238E27FC236}">
                <a16:creationId xmlns:a16="http://schemas.microsoft.com/office/drawing/2014/main" id="{E3CFE148-96A7-4F32-A1F5-6A4AC88E1773}"/>
              </a:ext>
            </a:extLst>
          </p:cNvPr>
          <p:cNvSpPr>
            <a:spLocks xmlns:a="http://schemas.openxmlformats.org/drawingml/2006/main" noGrp="1"/>
          </p:cNvSpPr>
          <p:nvPr/>
        </p:nvSpPr>
        <p:spPr>
          <a:xfrm xmlns:a="http://schemas.openxmlformats.org/drawingml/2006/main">
            <a:off x="9410700" y="1952625"/>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Return to saved decisions</a:t>
            </a:r>
          </a:p>
        </p:txBody>
      </p:sp>
      <p:sp>
        <p:nvSpPr>
          <p:cNvPr id="9" name="">
            <a:extLst xmlns:a="http://schemas.openxmlformats.org/drawingml/2006/main">
              <a:ext uri="{FF2B5EF4-FFF2-40B4-BE49-F238E27FC236}">
                <a16:creationId xmlns:a16="http://schemas.microsoft.com/office/drawing/2014/main" id="{FF582878-FA6A-42BD-8921-DE0080F64B06}"/>
              </a:ext>
            </a:extLst>
          </p:cNvPr>
          <p:cNvSpPr>
            <a:spLocks xmlns:a="http://schemas.openxmlformats.org/drawingml/2006/main" noGrp="1"/>
          </p:cNvSpPr>
          <p:nvPr/>
        </p:nvSpPr>
        <p:spPr>
          <a:xfrm xmlns:a="http://schemas.openxmlformats.org/drawingml/2006/main">
            <a:off x="4667250" y="32861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A65B3C"/>
                </a:solidFill>
                <a:latin typeface="Helvetica Neue"/>
                <a:ea typeface="Helvetica Neue"/>
                <a:cs typeface="Helvetica Neue"/>
              </a:defRPr>
            </a:pPr>
            <a:r>
              <a:rPr sz="1650" b="1">
                <a:solidFill>
                  <a:srgbClr val="A65B3C"/>
                </a:solidFill>
                <a:latin typeface="Helvetica Neue"/>
                <a:ea typeface="Helvetica Neue"/>
                <a:cs typeface="Helvetica Neue"/>
              </a:rPr>
              <a:t>Disconnect or delete</a:t>
            </a:r>
          </a:p>
        </p:txBody>
      </p:sp>
      <p:sp>
        <p:nvSpPr>
          <p:cNvPr id="10" name="">
            <a:extLst xmlns:a="http://schemas.openxmlformats.org/drawingml/2006/main">
              <a:ext uri="{FF2B5EF4-FFF2-40B4-BE49-F238E27FC236}">
                <a16:creationId xmlns:a16="http://schemas.microsoft.com/office/drawing/2014/main" id="{B01A621D-F275-4821-8652-5413280535F7}"/>
              </a:ext>
            </a:extLst>
          </p:cNvPr>
          <p:cNvSpPr>
            <a:spLocks xmlns:a="http://schemas.openxmlformats.org/drawingml/2006/main" noGrp="1"/>
          </p:cNvSpPr>
          <p:nvPr/>
        </p:nvSpPr>
        <p:spPr>
          <a:xfrm xmlns:a="http://schemas.openxmlformats.org/drawingml/2006/main">
            <a:off x="857250" y="42862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23447"/>
                </a:solidFill>
                <a:latin typeface="Helvetica Neue"/>
                <a:ea typeface="Helvetica Neue"/>
                <a:cs typeface="Helvetica Neue"/>
              </a:defRPr>
            </a:pPr>
            <a:r>
              <a:rPr sz="1575" b="0">
                <a:solidFill>
                  <a:srgbClr val="123447"/>
                </a:solidFill>
                <a:latin typeface="Helvetica Neue"/>
                <a:ea typeface="Helvetica Neue"/>
                <a:cs typeface="Helvetica Neue"/>
              </a:rPr>
              <a:t>Source direction: time-box Gmail feasibility for one consented test-user pattern. If scope, coverage, or safe handling fails, use a clearly labelled user-initiated import. Import captures real supplied data but does not prove automatic capture.</a:t>
            </a:r>
          </a:p>
        </p:txBody>
      </p:sp>
    </p:spTree>
    <p:extLst>
      <p:ext uri="{BB962C8B-B14F-4D97-AF65-F5344CB8AC3E}">
        <p14:creationId xmlns:p14="http://schemas.microsoft.com/office/powerpoint/2010/main" val="17432887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79DA41F-A1F9-44A4-960D-C1DF9CE46282}"/>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92639"/>
                </a:solidFill>
                <a:latin typeface="Helvetica Neue"/>
                <a:ea typeface="Helvetica Neue"/>
                <a:cs typeface="Helvetica Neue"/>
              </a:defRPr>
            </a:pPr>
            <a:r>
              <a:rPr sz="2700" b="1">
                <a:solidFill>
                  <a:srgbClr val="092639"/>
                </a:solidFill>
                <a:latin typeface="Helvetica Neue"/>
                <a:ea typeface="Helvetica Neue"/>
                <a:cs typeface="Helvetica Neue"/>
              </a:rPr>
              <a:t>The integration contract keeps each role independent</a:t>
            </a:r>
          </a:p>
        </p:txBody>
      </p:sp>
      <p:sp>
        <p:nvSpPr>
          <p:cNvPr id="2" name="">
            <a:extLst xmlns:a="http://schemas.openxmlformats.org/drawingml/2006/main">
              <a:ext uri="{FF2B5EF4-FFF2-40B4-BE49-F238E27FC236}">
                <a16:creationId xmlns:a16="http://schemas.microsoft.com/office/drawing/2014/main" id="{7099445E-E988-414F-AB22-5BEB927342F8}"/>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E7180"/>
                </a:solidFill>
                <a:latin typeface="Helvetica Neue"/>
                <a:ea typeface="Helvetica Neue"/>
                <a:cs typeface="Helvetica Neue"/>
              </a:defRPr>
            </a:pPr>
            <a:r>
              <a:rPr sz="1200" b="0">
                <a:solidFill>
                  <a:srgbClr val="5E7180"/>
                </a:solidFill>
                <a:latin typeface="Helvetica Neue"/>
                <a:ea typeface="Helvetica Neue"/>
                <a:cs typeface="Helvetica Neue"/>
              </a:rPr>
              <a:t>Every workstream produces a defined handoff and a checkable result</a:t>
            </a:r>
          </a:p>
        </p:txBody>
      </p:sp>
      <p:sp>
        <p:nvSpPr>
          <p:cNvPr id="3" name="">
            <a:extLst xmlns:a="http://schemas.openxmlformats.org/drawingml/2006/main">
              <a:ext uri="{FF2B5EF4-FFF2-40B4-BE49-F238E27FC236}">
                <a16:creationId xmlns:a16="http://schemas.microsoft.com/office/drawing/2014/main" id="{E6DE9C53-119D-4B33-825D-90727C320A87}"/>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08</a:t>
            </a:r>
          </a:p>
        </p:txBody>
      </p:sp>
      <p:sp>
        <p:nvSpPr>
          <p:cNvPr id="4" name="">
            <a:extLst xmlns:a="http://schemas.openxmlformats.org/drawingml/2006/main">
              <a:ext uri="{FF2B5EF4-FFF2-40B4-BE49-F238E27FC236}">
                <a16:creationId xmlns:a16="http://schemas.microsoft.com/office/drawing/2014/main" id="{0FE3F4F3-2144-4806-A443-9545CBB9CE22}"/>
              </a:ext>
            </a:extLst>
          </p:cNvPr>
          <p:cNvSpPr>
            <a:spLocks xmlns:a="http://schemas.openxmlformats.org/drawingml/2006/main" noGrp="1"/>
          </p:cNvSpPr>
          <p:nvPr/>
        </p:nvSpPr>
        <p:spPr>
          <a:xfrm xmlns:a="http://schemas.openxmlformats.org/drawingml/2006/main">
            <a:off x="723900" y="17526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1F7A78"/>
                </a:solidFill>
                <a:latin typeface="Helvetica Neue"/>
                <a:ea typeface="Helvetica Neue"/>
                <a:cs typeface="Helvetica Neue"/>
              </a:defRPr>
            </a:pPr>
            <a:r>
              <a:rPr sz="1275" b="1">
                <a:solidFill>
                  <a:srgbClr val="1F7A78"/>
                </a:solidFill>
                <a:latin typeface="Helvetica Neue"/>
                <a:ea typeface="Helvetica Neue"/>
                <a:cs typeface="Helvetica Neue"/>
              </a:rPr>
              <a:t>1  SOURCE PATH</a:t>
            </a:r>
          </a:p>
        </p:txBody>
      </p:sp>
      <p:sp>
        <p:nvSpPr>
          <p:cNvPr id="5" name="">
            <a:extLst xmlns:a="http://schemas.openxmlformats.org/drawingml/2006/main">
              <a:ext uri="{FF2B5EF4-FFF2-40B4-BE49-F238E27FC236}">
                <a16:creationId xmlns:a16="http://schemas.microsoft.com/office/drawing/2014/main" id="{8818EE97-FC1C-465B-AEE9-6F1E0CB69FFB}"/>
              </a:ext>
            </a:extLst>
          </p:cNvPr>
          <p:cNvSpPr>
            <a:spLocks xmlns:a="http://schemas.openxmlformats.org/drawingml/2006/main" noGrp="1"/>
          </p:cNvSpPr>
          <p:nvPr/>
        </p:nvSpPr>
        <p:spPr>
          <a:xfrm xmlns:a="http://schemas.openxmlformats.org/drawingml/2006/main">
            <a:off x="723900" y="2095500"/>
            <a:ext cx="3190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Emits a source artifact with stable source and event IDs, received time, permitted payload or safe reference, and source-specific metadata.</a:t>
            </a:r>
          </a:p>
        </p:txBody>
      </p:sp>
      <p:sp>
        <p:nvSpPr>
          <p:cNvPr id="6" name="">
            <a:extLst xmlns:a="http://schemas.openxmlformats.org/drawingml/2006/main">
              <a:ext uri="{FF2B5EF4-FFF2-40B4-BE49-F238E27FC236}">
                <a16:creationId xmlns:a16="http://schemas.microsoft.com/office/drawing/2014/main" id="{AF1927F3-4CBD-4F98-9986-0FF23267F444}"/>
              </a:ext>
            </a:extLst>
          </p:cNvPr>
          <p:cNvSpPr>
            <a:spLocks xmlns:a="http://schemas.openxmlformats.org/drawingml/2006/main" noGrp="1"/>
          </p:cNvSpPr>
          <p:nvPr/>
        </p:nvSpPr>
        <p:spPr>
          <a:xfrm xmlns:a="http://schemas.openxmlformats.org/drawingml/2006/main">
            <a:off x="4438650" y="17526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1F7A78"/>
                </a:solidFill>
                <a:latin typeface="Helvetica Neue"/>
                <a:ea typeface="Helvetica Neue"/>
                <a:cs typeface="Helvetica Neue"/>
              </a:defRPr>
            </a:pPr>
            <a:r>
              <a:rPr sz="1275" b="1">
                <a:solidFill>
                  <a:srgbClr val="1F7A78"/>
                </a:solidFill>
                <a:latin typeface="Helvetica Neue"/>
                <a:ea typeface="Helvetica Neue"/>
                <a:cs typeface="Helvetica Neue"/>
              </a:rPr>
              <a:t>2  DOMAIN PIPELINE</a:t>
            </a:r>
          </a:p>
        </p:txBody>
      </p:sp>
      <p:sp>
        <p:nvSpPr>
          <p:cNvPr id="7" name="">
            <a:extLst xmlns:a="http://schemas.openxmlformats.org/drawingml/2006/main">
              <a:ext uri="{FF2B5EF4-FFF2-40B4-BE49-F238E27FC236}">
                <a16:creationId xmlns:a16="http://schemas.microsoft.com/office/drawing/2014/main" id="{3DAB9D3B-A400-4988-9891-48888E818B22}"/>
              </a:ext>
            </a:extLst>
          </p:cNvPr>
          <p:cNvSpPr>
            <a:spLocks xmlns:a="http://schemas.openxmlformats.org/drawingml/2006/main" noGrp="1"/>
          </p:cNvSpPr>
          <p:nvPr/>
        </p:nvSpPr>
        <p:spPr>
          <a:xfrm xmlns:a="http://schemas.openxmlformats.org/drawingml/2006/main">
            <a:off x="4438650" y="2095500"/>
            <a:ext cx="3190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Uses the existing eligibility, parser, lifecycle, duplicate, review, and metric rules. Unsupported input returns a reason, never a fabricated transaction.</a:t>
            </a:r>
          </a:p>
        </p:txBody>
      </p:sp>
      <p:sp>
        <p:nvSpPr>
          <p:cNvPr id="8" name="">
            <a:extLst xmlns:a="http://schemas.openxmlformats.org/drawingml/2006/main">
              <a:ext uri="{FF2B5EF4-FFF2-40B4-BE49-F238E27FC236}">
                <a16:creationId xmlns:a16="http://schemas.microsoft.com/office/drawing/2014/main" id="{2DAD524B-5501-4C33-95EF-7E725BC94931}"/>
              </a:ext>
            </a:extLst>
          </p:cNvPr>
          <p:cNvSpPr>
            <a:spLocks xmlns:a="http://schemas.openxmlformats.org/drawingml/2006/main" noGrp="1"/>
          </p:cNvSpPr>
          <p:nvPr/>
        </p:nvSpPr>
        <p:spPr>
          <a:xfrm xmlns:a="http://schemas.openxmlformats.org/drawingml/2006/main">
            <a:off x="8153400" y="17526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1F7A78"/>
                </a:solidFill>
                <a:latin typeface="Helvetica Neue"/>
                <a:ea typeface="Helvetica Neue"/>
                <a:cs typeface="Helvetica Neue"/>
              </a:defRPr>
            </a:pPr>
            <a:r>
              <a:rPr sz="1275" b="1">
                <a:solidFill>
                  <a:srgbClr val="1F7A78"/>
                </a:solidFill>
                <a:latin typeface="Helvetica Neue"/>
                <a:ea typeface="Helvetica Neue"/>
                <a:cs typeface="Helvetica Neue"/>
              </a:rPr>
              <a:t>3  PRIVATE SERVICE</a:t>
            </a:r>
          </a:p>
        </p:txBody>
      </p:sp>
      <p:sp>
        <p:nvSpPr>
          <p:cNvPr id="9" name="">
            <a:extLst xmlns:a="http://schemas.openxmlformats.org/drawingml/2006/main">
              <a:ext uri="{FF2B5EF4-FFF2-40B4-BE49-F238E27FC236}">
                <a16:creationId xmlns:a16="http://schemas.microsoft.com/office/drawing/2014/main" id="{1184EAC0-E071-4EA6-97C1-9A0688A339FC}"/>
              </a:ext>
            </a:extLst>
          </p:cNvPr>
          <p:cNvSpPr>
            <a:spLocks xmlns:a="http://schemas.openxmlformats.org/drawingml/2006/main" noGrp="1"/>
          </p:cNvSpPr>
          <p:nvPr/>
        </p:nvSpPr>
        <p:spPr>
          <a:xfrm xmlns:a="http://schemas.openxmlformats.org/drawingml/2006/main">
            <a:off x="8153400" y="2095500"/>
            <a:ext cx="3190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Stores records, review decisions, and deletion state under the invited user’s identity. Enforces separation between users and supports return visits.</a:t>
            </a:r>
          </a:p>
        </p:txBody>
      </p:sp>
      <p:sp>
        <p:nvSpPr>
          <p:cNvPr id="10" name="">
            <a:extLst xmlns:a="http://schemas.openxmlformats.org/drawingml/2006/main">
              <a:ext uri="{FF2B5EF4-FFF2-40B4-BE49-F238E27FC236}">
                <a16:creationId xmlns:a16="http://schemas.microsoft.com/office/drawing/2014/main" id="{4AD4077F-265D-4764-B4D0-155D78D6E7A4}"/>
              </a:ext>
            </a:extLst>
          </p:cNvPr>
          <p:cNvSpPr>
            <a:spLocks xmlns:a="http://schemas.openxmlformats.org/drawingml/2006/main" noGrp="1"/>
          </p:cNvSpPr>
          <p:nvPr/>
        </p:nvSpPr>
        <p:spPr>
          <a:xfrm xmlns:a="http://schemas.openxmlformats.org/drawingml/2006/main">
            <a:off x="723900" y="43338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a:solidFill>
                  <a:srgbClr val="A65B3C"/>
                </a:solidFill>
                <a:latin typeface="Helvetica Neue"/>
                <a:ea typeface="Helvetica Neue"/>
                <a:cs typeface="Helvetica Neue"/>
              </a:defRPr>
            </a:pPr>
            <a:r>
              <a:rPr sz="1350" b="1">
                <a:solidFill>
                  <a:srgbClr val="A65B3C"/>
                </a:solidFill>
                <a:latin typeface="Helvetica Neue"/>
                <a:ea typeface="Helvetica Neue"/>
                <a:cs typeface="Helvetica Neue"/>
              </a:rPr>
              <a:t>Integration rule</a:t>
            </a:r>
          </a:p>
        </p:txBody>
      </p:sp>
      <p:sp>
        <p:nvSpPr>
          <p:cNvPr id="11" name="">
            <a:extLst xmlns:a="http://schemas.openxmlformats.org/drawingml/2006/main">
              <a:ext uri="{FF2B5EF4-FFF2-40B4-BE49-F238E27FC236}">
                <a16:creationId xmlns:a16="http://schemas.microsoft.com/office/drawing/2014/main" id="{7400291F-61C5-4357-9F15-B994BCF77DA4}"/>
              </a:ext>
            </a:extLst>
          </p:cNvPr>
          <p:cNvSpPr>
            <a:spLocks xmlns:a="http://schemas.openxmlformats.org/drawingml/2006/main" noGrp="1"/>
          </p:cNvSpPr>
          <p:nvPr/>
        </p:nvSpPr>
        <p:spPr>
          <a:xfrm xmlns:a="http://schemas.openxmlformats.org/drawingml/2006/main">
            <a:off x="723900" y="46863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407"/>
          </a:bodyPr>
          <a:lstStyle xmlns:a="http://schemas.openxmlformats.org/drawingml/2006/main"/>
          <a:p xmlns:a="http://schemas.openxmlformats.org/drawingml/2006/main">
            <a:pPr>
              <a:defRPr sz="1575" b="1">
                <a:solidFill>
                  <a:srgbClr val="092639"/>
                </a:solidFill>
                <a:latin typeface="Helvetica Neue"/>
                <a:ea typeface="Helvetica Neue"/>
                <a:cs typeface="Helvetica Neue"/>
              </a:defRPr>
            </a:pPr>
            <a:r>
              <a:rPr sz="1575" b="1">
                <a:solidFill>
                  <a:srgbClr val="092639"/>
                </a:solidFill>
                <a:latin typeface="Helvetica Neue"/>
                <a:ea typeface="Helvetica Neue"/>
                <a:cs typeface="Helvetica Neue"/>
              </a:rPr>
              <a:t>No role bypasses the domain pipeline. The source role does not calculate totals; the database role does not reinterpret messages; the interface never hides uncertainty or turns detected flow into a balance.</a:t>
            </a:r>
          </a:p>
        </p:txBody>
      </p:sp>
    </p:spTree>
    <p:extLst>
      <p:ext uri="{BB962C8B-B14F-4D97-AF65-F5344CB8AC3E}">
        <p14:creationId xmlns:p14="http://schemas.microsoft.com/office/powerpoint/2010/main" val="2102652894"/>
      </p:ext>
    </p:extLst>
  </p:cSld>
</p:sld>
</file>

<file path=ppt/slides/slide9.xml><?xml version="1.0" encoding="utf-8"?>
<p:sld xmlns:p="http://schemas.openxmlformats.org/presentationml/2006/main">
  <p:cSld>
    <p:bg>
      <p:bgPr>
        <a:solidFill xmlns:a="http://schemas.openxmlformats.org/drawingml/2006/main">
          <a:srgbClr val="09263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035842-2730-4290-AADE-96452363B2DC}"/>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Role 1: Gmail capture pipeline</a:t>
            </a:r>
          </a:p>
        </p:txBody>
      </p:sp>
      <p:sp>
        <p:nvSpPr>
          <p:cNvPr id="2" name="">
            <a:extLst xmlns:a="http://schemas.openxmlformats.org/drawingml/2006/main">
              <a:ext uri="{FF2B5EF4-FFF2-40B4-BE49-F238E27FC236}">
                <a16:creationId xmlns:a16="http://schemas.microsoft.com/office/drawing/2014/main" id="{29A0C4D2-6C39-4097-B405-3AC8BD109C10}"/>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B8D7D2"/>
                </a:solidFill>
                <a:latin typeface="Helvetica Neue"/>
                <a:ea typeface="Helvetica Neue"/>
                <a:cs typeface="Helvetica Neue"/>
              </a:defRPr>
            </a:pPr>
            <a:r>
              <a:rPr sz="1200" b="0">
                <a:solidFill>
                  <a:srgbClr val="B8D7D2"/>
                </a:solidFill>
                <a:latin typeface="Helvetica Neue"/>
                <a:ea typeface="Helvetica Neue"/>
                <a:cs typeface="Helvetica Neue"/>
              </a:rPr>
              <a:t>Objective: bring one permitted transaction-message pattern into the existing source boundary</a:t>
            </a:r>
          </a:p>
        </p:txBody>
      </p:sp>
      <p:sp>
        <p:nvSpPr>
          <p:cNvPr id="3" name="">
            <a:extLst xmlns:a="http://schemas.openxmlformats.org/drawingml/2006/main">
              <a:ext uri="{FF2B5EF4-FFF2-40B4-BE49-F238E27FC236}">
                <a16:creationId xmlns:a16="http://schemas.microsoft.com/office/drawing/2014/main" id="{4E21F350-677E-43AA-8780-AB6881336540}"/>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09</a:t>
            </a:r>
          </a:p>
        </p:txBody>
      </p:sp>
      <p:sp>
        <p:nvSpPr>
          <p:cNvPr id="4" name="">
            <a:extLst xmlns:a="http://schemas.openxmlformats.org/drawingml/2006/main">
              <a:ext uri="{FF2B5EF4-FFF2-40B4-BE49-F238E27FC236}">
                <a16:creationId xmlns:a16="http://schemas.microsoft.com/office/drawing/2014/main" id="{171C6DF7-1A87-4877-A12F-8530EFE31344}"/>
              </a:ext>
            </a:extLst>
          </p:cNvPr>
          <p:cNvSpPr>
            <a:spLocks xmlns:a="http://schemas.openxmlformats.org/drawingml/2006/main" noGrp="1"/>
          </p:cNvSpPr>
          <p:nvPr/>
        </p:nvSpPr>
        <p:spPr>
          <a:xfrm xmlns:a="http://schemas.openxmlformats.org/drawingml/2006/main">
            <a:off x="685800" y="16859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A8D9CD"/>
                </a:solidFill>
                <a:latin typeface="Helvetica Neue"/>
                <a:ea typeface="Helvetica Neue"/>
                <a:cs typeface="Helvetica Neue"/>
              </a:defRPr>
            </a:pPr>
            <a:r>
              <a:rPr sz="1425" b="1">
                <a:solidFill>
                  <a:srgbClr val="A8D9CD"/>
                </a:solidFill>
                <a:latin typeface="Helvetica Neue"/>
                <a:ea typeface="Helvetica Neue"/>
                <a:cs typeface="Helvetica Neue"/>
              </a:rPr>
              <a:t>What this owner builds</a:t>
            </a:r>
          </a:p>
        </p:txBody>
      </p:sp>
      <p:sp>
        <p:nvSpPr>
          <p:cNvPr id="5" name="">
            <a:extLst xmlns:a="http://schemas.openxmlformats.org/drawingml/2006/main">
              <a:ext uri="{FF2B5EF4-FFF2-40B4-BE49-F238E27FC236}">
                <a16:creationId xmlns:a16="http://schemas.microsoft.com/office/drawing/2014/main" id="{22BC3770-4049-4A35-B333-FCC553724535}"/>
              </a:ext>
            </a:extLst>
          </p:cNvPr>
          <p:cNvSpPr>
            <a:spLocks xmlns:a="http://schemas.openxmlformats.org/drawingml/2006/main" noGrp="1"/>
          </p:cNvSpPr>
          <p:nvPr/>
        </p:nvSpPr>
        <p:spPr>
          <a:xfrm xmlns:a="http://schemas.openxmlformats.org/drawingml/2006/main">
            <a:off x="685800" y="2085975"/>
            <a:ext cx="4762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A feasibility note for one Gmail test-user path</a:t>
            </a:r>
          </a:p>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Narrow search or retrieval for one supported sender/pattern</a:t>
            </a:r>
          </a:p>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OAuth consent handling with the smallest feasible scope</a:t>
            </a:r>
          </a:p>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Translation from Gmail data to SourceArtifact</a:t>
            </a:r>
          </a:p>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Explicit unsupported, partial, and failed-capture outcomes</a:t>
            </a:r>
          </a:p>
        </p:txBody>
      </p:sp>
      <p:sp>
        <p:nvSpPr>
          <p:cNvPr id="6" name="">
            <a:extLst xmlns:a="http://schemas.openxmlformats.org/drawingml/2006/main">
              <a:ext uri="{FF2B5EF4-FFF2-40B4-BE49-F238E27FC236}">
                <a16:creationId xmlns:a16="http://schemas.microsoft.com/office/drawing/2014/main" id="{7E6DE3C2-9724-4B55-B788-132616CF0268}"/>
              </a:ext>
            </a:extLst>
          </p:cNvPr>
          <p:cNvSpPr>
            <a:spLocks xmlns:a="http://schemas.openxmlformats.org/drawingml/2006/main" noGrp="1"/>
          </p:cNvSpPr>
          <p:nvPr/>
        </p:nvSpPr>
        <p:spPr>
          <a:xfrm xmlns:a="http://schemas.openxmlformats.org/drawingml/2006/main">
            <a:off x="6438900" y="168592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A8D9CD"/>
                </a:solidFill>
                <a:latin typeface="Helvetica Neue"/>
                <a:ea typeface="Helvetica Neue"/>
                <a:cs typeface="Helvetica Neue"/>
              </a:defRPr>
            </a:pPr>
            <a:r>
              <a:rPr sz="1425" b="1">
                <a:solidFill>
                  <a:srgbClr val="A8D9CD"/>
                </a:solidFill>
                <a:latin typeface="Helvetica Neue"/>
                <a:ea typeface="Helvetica Neue"/>
                <a:cs typeface="Helvetica Neue"/>
              </a:rPr>
              <a:t>Handoff to the rest of the app</a:t>
            </a:r>
          </a:p>
        </p:txBody>
      </p:sp>
      <p:sp>
        <p:nvSpPr>
          <p:cNvPr id="7" name="">
            <a:extLst xmlns:a="http://schemas.openxmlformats.org/drawingml/2006/main">
              <a:ext uri="{FF2B5EF4-FFF2-40B4-BE49-F238E27FC236}">
                <a16:creationId xmlns:a16="http://schemas.microsoft.com/office/drawing/2014/main" id="{CB07222E-93AF-4749-875F-97D7C75FEA4F}"/>
              </a:ext>
            </a:extLst>
          </p:cNvPr>
          <p:cNvSpPr>
            <a:spLocks xmlns:a="http://schemas.openxmlformats.org/drawingml/2006/main" noGrp="1"/>
          </p:cNvSpPr>
          <p:nvPr/>
        </p:nvSpPr>
        <p:spPr>
          <a:xfrm xmlns:a="http://schemas.openxmlformats.org/drawingml/2006/main">
            <a:off x="6438900" y="2085975"/>
            <a:ext cx="414337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Provide stable source_id and source_event_id, received_at, safe content or reference, sender/subject only as source metadata, and an audit-safe reason when input cannot be processed. Do not place Gmail-specific fields in the shared candidate model.</a:t>
            </a:r>
          </a:p>
        </p:txBody>
      </p:sp>
      <p:sp>
        <p:nvSpPr>
          <p:cNvPr id="8" name="">
            <a:extLst xmlns:a="http://schemas.openxmlformats.org/drawingml/2006/main">
              <a:ext uri="{FF2B5EF4-FFF2-40B4-BE49-F238E27FC236}">
                <a16:creationId xmlns:a16="http://schemas.microsoft.com/office/drawing/2014/main" id="{FBD7EAA7-FE11-48ED-812D-8FF714A68B6C}"/>
              </a:ext>
            </a:extLst>
          </p:cNvPr>
          <p:cNvSpPr>
            <a:spLocks xmlns:a="http://schemas.openxmlformats.org/drawingml/2006/main" noGrp="1"/>
          </p:cNvSpPr>
          <p:nvPr/>
        </p:nvSpPr>
        <p:spPr>
          <a:xfrm xmlns:a="http://schemas.openxmlformats.org/drawingml/2006/main">
            <a:off x="6438900" y="4267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E8B65A"/>
                </a:solidFill>
                <a:latin typeface="Helvetica Neue"/>
                <a:ea typeface="Helvetica Neue"/>
                <a:cs typeface="Helvetica Neue"/>
              </a:defRPr>
            </a:pPr>
            <a:r>
              <a:rPr sz="1425" b="1">
                <a:solidFill>
                  <a:srgbClr val="E8B65A"/>
                </a:solidFill>
                <a:latin typeface="Helvetica Neue"/>
                <a:ea typeface="Helvetica Neue"/>
                <a:cs typeface="Helvetica Neue"/>
              </a:rPr>
              <a:t>Acceptance evidence</a:t>
            </a:r>
          </a:p>
        </p:txBody>
      </p:sp>
      <p:sp>
        <p:nvSpPr>
          <p:cNvPr id="9" name="">
            <a:extLst xmlns:a="http://schemas.openxmlformats.org/drawingml/2006/main">
              <a:ext uri="{FF2B5EF4-FFF2-40B4-BE49-F238E27FC236}">
                <a16:creationId xmlns:a16="http://schemas.microsoft.com/office/drawing/2014/main" id="{F37DCAD5-E9A4-4C9A-85AC-51F8F0EFD038}"/>
              </a:ext>
            </a:extLst>
          </p:cNvPr>
          <p:cNvSpPr>
            <a:spLocks xmlns:a="http://schemas.openxmlformats.org/drawingml/2006/main" noGrp="1"/>
          </p:cNvSpPr>
          <p:nvPr/>
        </p:nvSpPr>
        <p:spPr>
          <a:xfrm xmlns:a="http://schemas.openxmlformats.org/drawingml/2006/main">
            <a:off x="6438900" y="4648200"/>
            <a:ext cx="4143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529"/>
          </a:bodyPr>
          <a:lstStyle xmlns:a="http://schemas.openxmlformats.org/drawingml/2006/main"/>
          <a:p xmlns:a="http://schemas.openxmlformats.org/drawingml/2006/main">
            <a:pPr>
              <a:defRPr sz="1275" b="0">
                <a:solidFill>
                  <a:srgbClr val="D7E9E5"/>
                </a:solidFill>
                <a:latin typeface="Helvetica Neue"/>
                <a:ea typeface="Helvetica Neue"/>
                <a:cs typeface="Helvetica Neue"/>
              </a:defRPr>
            </a:pPr>
            <a:r>
              <a:rPr sz="1275" b="0">
                <a:solidFill>
                  <a:srgbClr val="D7E9E5"/>
                </a:solidFill>
                <a:latin typeface="Helvetica Neue"/>
                <a:ea typeface="Helvetica Neue"/>
                <a:cs typeface="Helvetica Neue"/>
              </a:rPr>
              <a:t>A named test user can consent; one matching message reaches the existing parser; an unrelated message produces no candidate; replay does not duplicate an event; errors tell the user what happened without exposing private message content.</a:t>
            </a:r>
          </a:p>
        </p:txBody>
      </p:sp>
    </p:spTree>
    <p:extLst>
      <p:ext uri="{BB962C8B-B14F-4D97-AF65-F5344CB8AC3E}">
        <p14:creationId xmlns:p14="http://schemas.microsoft.com/office/powerpoint/2010/main" val="600334706"/>
      </p:ext>
    </p:extLst>
  </p:cSld>
</p:sld>
</file>

<file path=ppt/slides/slide10.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C61BB31-EE77-4321-AAD5-17E4EE6D7AF2}"/>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92639"/>
                </a:solidFill>
                <a:latin typeface="Helvetica Neue"/>
                <a:ea typeface="Helvetica Neue"/>
                <a:cs typeface="Helvetica Neue"/>
              </a:defRPr>
            </a:pPr>
            <a:r>
              <a:rPr sz="2700" b="1">
                <a:solidFill>
                  <a:srgbClr val="092639"/>
                </a:solidFill>
                <a:latin typeface="Helvetica Neue"/>
                <a:ea typeface="Helvetica Neue"/>
                <a:cs typeface="Helvetica Neue"/>
              </a:rPr>
              <a:t>Role 2: invited identity and private persistence</a:t>
            </a:r>
          </a:p>
        </p:txBody>
      </p:sp>
      <p:sp>
        <p:nvSpPr>
          <p:cNvPr id="2" name="">
            <a:extLst xmlns:a="http://schemas.openxmlformats.org/drawingml/2006/main">
              <a:ext uri="{FF2B5EF4-FFF2-40B4-BE49-F238E27FC236}">
                <a16:creationId xmlns:a16="http://schemas.microsoft.com/office/drawing/2014/main" id="{6649CE9F-A665-48E1-9206-B759FED1086B}"/>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E7180"/>
                </a:solidFill>
                <a:latin typeface="Helvetica Neue"/>
                <a:ea typeface="Helvetica Neue"/>
                <a:cs typeface="Helvetica Neue"/>
              </a:defRPr>
            </a:pPr>
            <a:r>
              <a:rPr sz="1200" b="0">
                <a:solidFill>
                  <a:srgbClr val="5E7180"/>
                </a:solidFill>
                <a:latin typeface="Helvetica Neue"/>
                <a:ea typeface="Helvetica Neue"/>
                <a:cs typeface="Helvetica Neue"/>
              </a:rPr>
              <a:t>Objective: make review decisions durable and private for one invited person</a:t>
            </a:r>
          </a:p>
        </p:txBody>
      </p:sp>
      <p:sp>
        <p:nvSpPr>
          <p:cNvPr id="3" name="">
            <a:extLst xmlns:a="http://schemas.openxmlformats.org/drawingml/2006/main">
              <a:ext uri="{FF2B5EF4-FFF2-40B4-BE49-F238E27FC236}">
                <a16:creationId xmlns:a16="http://schemas.microsoft.com/office/drawing/2014/main" id="{E7E2130F-992A-4990-AD1D-D677EF3F246F}"/>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10</a:t>
            </a:r>
          </a:p>
        </p:txBody>
      </p:sp>
      <p:sp>
        <p:nvSpPr>
          <p:cNvPr id="4" name="">
            <a:extLst xmlns:a="http://schemas.openxmlformats.org/drawingml/2006/main">
              <a:ext uri="{FF2B5EF4-FFF2-40B4-BE49-F238E27FC236}">
                <a16:creationId xmlns:a16="http://schemas.microsoft.com/office/drawing/2014/main" id="{0207511B-B818-4171-8D50-BEEC1A00D842}"/>
              </a:ext>
            </a:extLst>
          </p:cNvPr>
          <p:cNvSpPr>
            <a:spLocks xmlns:a="http://schemas.openxmlformats.org/drawingml/2006/main" noGrp="1"/>
          </p:cNvSpPr>
          <p:nvPr/>
        </p:nvSpPr>
        <p:spPr>
          <a:xfrm xmlns:a="http://schemas.openxmlformats.org/drawingml/2006/main">
            <a:off x="685800" y="168592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1F7A78"/>
                </a:solidFill>
                <a:latin typeface="Helvetica Neue"/>
                <a:ea typeface="Helvetica Neue"/>
                <a:cs typeface="Helvetica Neue"/>
              </a:defRPr>
            </a:pPr>
            <a:r>
              <a:rPr sz="1425" b="1">
                <a:solidFill>
                  <a:srgbClr val="1F7A78"/>
                </a:solidFill>
                <a:latin typeface="Helvetica Neue"/>
                <a:ea typeface="Helvetica Neue"/>
                <a:cs typeface="Helvetica Neue"/>
              </a:rPr>
              <a:t>What this owner builds</a:t>
            </a:r>
          </a:p>
        </p:txBody>
      </p:sp>
      <p:sp>
        <p:nvSpPr>
          <p:cNvPr id="5" name="">
            <a:extLst xmlns:a="http://schemas.openxmlformats.org/drawingml/2006/main">
              <a:ext uri="{FF2B5EF4-FFF2-40B4-BE49-F238E27FC236}">
                <a16:creationId xmlns:a16="http://schemas.microsoft.com/office/drawing/2014/main" id="{3C0E4859-E43A-4017-B376-4B6D4CDDB769}"/>
              </a:ext>
            </a:extLst>
          </p:cNvPr>
          <p:cNvSpPr>
            <a:spLocks xmlns:a="http://schemas.openxmlformats.org/drawingml/2006/main" noGrp="1"/>
          </p:cNvSpPr>
          <p:nvPr/>
        </p:nvSpPr>
        <p:spPr>
          <a:xfrm xmlns:a="http://schemas.openxmlformats.org/drawingml/2006/main">
            <a:off x="685800" y="2085975"/>
            <a:ext cx="4762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An invited-user sign-in or access mechanism</a:t>
            </a:r>
          </a:p>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A durable data model for users, source artifacts, transaction records, review decisions, and deletion status</a:t>
            </a:r>
          </a:p>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User-level access checks on every read and write</a:t>
            </a:r>
          </a:p>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A disconnect path that revokes future source access</a:t>
            </a:r>
          </a:p>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 A deletion path with clear retained-data behavior</a:t>
            </a:r>
          </a:p>
        </p:txBody>
      </p:sp>
      <p:sp>
        <p:nvSpPr>
          <p:cNvPr id="6" name="">
            <a:extLst xmlns:a="http://schemas.openxmlformats.org/drawingml/2006/main">
              <a:ext uri="{FF2B5EF4-FFF2-40B4-BE49-F238E27FC236}">
                <a16:creationId xmlns:a16="http://schemas.microsoft.com/office/drawing/2014/main" id="{E4A8D54F-73DA-4AE0-B43A-2FBD57F09E3E}"/>
              </a:ext>
            </a:extLst>
          </p:cNvPr>
          <p:cNvSpPr>
            <a:spLocks xmlns:a="http://schemas.openxmlformats.org/drawingml/2006/main" noGrp="1"/>
          </p:cNvSpPr>
          <p:nvPr/>
        </p:nvSpPr>
        <p:spPr>
          <a:xfrm xmlns:a="http://schemas.openxmlformats.org/drawingml/2006/main">
            <a:off x="6438900" y="168592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1F7A78"/>
                </a:solidFill>
                <a:latin typeface="Helvetica Neue"/>
                <a:ea typeface="Helvetica Neue"/>
                <a:cs typeface="Helvetica Neue"/>
              </a:defRPr>
            </a:pPr>
            <a:r>
              <a:rPr sz="1425" b="1">
                <a:solidFill>
                  <a:srgbClr val="1F7A78"/>
                </a:solidFill>
                <a:latin typeface="Helvetica Neue"/>
                <a:ea typeface="Helvetica Neue"/>
                <a:cs typeface="Helvetica Neue"/>
              </a:rPr>
              <a:t>Data responsibilities</a:t>
            </a:r>
          </a:p>
        </p:txBody>
      </p:sp>
      <p:sp>
        <p:nvSpPr>
          <p:cNvPr id="7" name="">
            <a:extLst xmlns:a="http://schemas.openxmlformats.org/drawingml/2006/main">
              <a:ext uri="{FF2B5EF4-FFF2-40B4-BE49-F238E27FC236}">
                <a16:creationId xmlns:a16="http://schemas.microsoft.com/office/drawing/2014/main" id="{93774489-E296-463D-BDC5-7C6576F44925}"/>
              </a:ext>
            </a:extLst>
          </p:cNvPr>
          <p:cNvSpPr>
            <a:spLocks xmlns:a="http://schemas.openxmlformats.org/drawingml/2006/main" noGrp="1"/>
          </p:cNvSpPr>
          <p:nvPr/>
        </p:nvSpPr>
        <p:spPr>
          <a:xfrm xmlns:a="http://schemas.openxmlformats.org/drawingml/2006/main">
            <a:off x="6438900" y="2085975"/>
            <a:ext cx="4143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23447"/>
                </a:solidFill>
                <a:latin typeface="Helvetica Neue"/>
                <a:ea typeface="Helvetica Neue"/>
                <a:cs typeface="Helvetica Neue"/>
              </a:defRPr>
            </a:pPr>
            <a:r>
              <a:rPr sz="1350" b="0">
                <a:solidFill>
                  <a:srgbClr val="123447"/>
                </a:solidFill>
                <a:latin typeface="Helvetica Neue"/>
                <a:ea typeface="Helvetica Neue"/>
                <a:cs typeface="Helvetica Neue"/>
              </a:rPr>
              <a:t>Persist raw source facts separately from interpretations and user overrides. Keep source identity for replay safety. Store only what the agreed source journey needs. Make user corrections and exclusion decisions returnable after sign-in.</a:t>
            </a:r>
          </a:p>
        </p:txBody>
      </p:sp>
      <p:sp>
        <p:nvSpPr>
          <p:cNvPr id="8" name="">
            <a:extLst xmlns:a="http://schemas.openxmlformats.org/drawingml/2006/main">
              <a:ext uri="{FF2B5EF4-FFF2-40B4-BE49-F238E27FC236}">
                <a16:creationId xmlns:a16="http://schemas.microsoft.com/office/drawing/2014/main" id="{F9D465AC-4BAE-4788-BBD4-4E5AB842A64F}"/>
              </a:ext>
            </a:extLst>
          </p:cNvPr>
          <p:cNvSpPr>
            <a:spLocks xmlns:a="http://schemas.openxmlformats.org/drawingml/2006/main" noGrp="1"/>
          </p:cNvSpPr>
          <p:nvPr/>
        </p:nvSpPr>
        <p:spPr>
          <a:xfrm xmlns:a="http://schemas.openxmlformats.org/drawingml/2006/main">
            <a:off x="6438900" y="40957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A65B3C"/>
                </a:solidFill>
                <a:latin typeface="Helvetica Neue"/>
                <a:ea typeface="Helvetica Neue"/>
                <a:cs typeface="Helvetica Neue"/>
              </a:defRPr>
            </a:pPr>
            <a:r>
              <a:rPr sz="1425" b="1">
                <a:solidFill>
                  <a:srgbClr val="A65B3C"/>
                </a:solidFill>
                <a:latin typeface="Helvetica Neue"/>
                <a:ea typeface="Helvetica Neue"/>
                <a:cs typeface="Helvetica Neue"/>
              </a:rPr>
              <a:t>Acceptance evidence</a:t>
            </a:r>
          </a:p>
        </p:txBody>
      </p:sp>
      <p:sp>
        <p:nvSpPr>
          <p:cNvPr id="9" name="">
            <a:extLst xmlns:a="http://schemas.openxmlformats.org/drawingml/2006/main">
              <a:ext uri="{FF2B5EF4-FFF2-40B4-BE49-F238E27FC236}">
                <a16:creationId xmlns:a16="http://schemas.microsoft.com/office/drawing/2014/main" id="{90EE8CA6-9F4F-40D9-B5B3-6E4D11420AEE}"/>
              </a:ext>
            </a:extLst>
          </p:cNvPr>
          <p:cNvSpPr>
            <a:spLocks xmlns:a="http://schemas.openxmlformats.org/drawingml/2006/main" noGrp="1"/>
          </p:cNvSpPr>
          <p:nvPr/>
        </p:nvSpPr>
        <p:spPr>
          <a:xfrm xmlns:a="http://schemas.openxmlformats.org/drawingml/2006/main">
            <a:off x="6438900" y="4476750"/>
            <a:ext cx="4143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209"/>
          </a:bodyPr>
          <a:lstStyle xmlns:a="http://schemas.openxmlformats.org/drawingml/2006/main"/>
          <a:p xmlns:a="http://schemas.openxmlformats.org/drawingml/2006/main">
            <a:pPr>
              <a:defRPr sz="1275" b="0">
                <a:solidFill>
                  <a:srgbClr val="123447"/>
                </a:solidFill>
                <a:latin typeface="Helvetica Neue"/>
                <a:ea typeface="Helvetica Neue"/>
                <a:cs typeface="Helvetica Neue"/>
              </a:defRPr>
            </a:pPr>
            <a:r>
              <a:rPr sz="1275" b="0">
                <a:solidFill>
                  <a:srgbClr val="123447"/>
                </a:solidFill>
                <a:latin typeface="Helvetica Neue"/>
                <a:ea typeface="Helvetica Neue"/>
                <a:cs typeface="Helvetica Neue"/>
              </a:rPr>
              <a:t>User A cannot access User B’s record. A reviewed decision remains after sign-out and return. Disconnect stops future capture. Deletion removes the agreed data and explains any minimal replay-prevention marker that must remain.</a:t>
            </a:r>
          </a:p>
        </p:txBody>
      </p:sp>
    </p:spTree>
    <p:extLst>
      <p:ext uri="{BB962C8B-B14F-4D97-AF65-F5344CB8AC3E}">
        <p14:creationId xmlns:p14="http://schemas.microsoft.com/office/powerpoint/2010/main" val="242682785"/>
      </p:ext>
    </p:extLst>
  </p:cSld>
</p:sld>
</file>

<file path=ppt/slides/slide11.xml><?xml version="1.0" encoding="utf-8"?>
<p:sld xmlns:p="http://schemas.openxmlformats.org/presentationml/2006/main">
  <p:cSld>
    <p:bg>
      <p:bgPr>
        <a:solidFill xmlns:a="http://schemas.openxmlformats.org/drawingml/2006/main">
          <a:srgbClr val="EAF2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BCA383F-B53A-47ED-B8EA-C2DD5EA06FF2}"/>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92639"/>
                </a:solidFill>
                <a:latin typeface="Helvetica Neue"/>
                <a:ea typeface="Helvetica Neue"/>
                <a:cs typeface="Helvetica Neue"/>
              </a:defRPr>
            </a:pPr>
            <a:r>
              <a:rPr sz="2700" b="1">
                <a:solidFill>
                  <a:srgbClr val="092639"/>
                </a:solidFill>
                <a:latin typeface="Helvetica Neue"/>
                <a:ea typeface="Helvetica Neue"/>
                <a:cs typeface="Helvetica Neue"/>
              </a:rPr>
              <a:t>Role 3: integration and product supervision</a:t>
            </a:r>
          </a:p>
        </p:txBody>
      </p:sp>
      <p:sp>
        <p:nvSpPr>
          <p:cNvPr id="2" name="">
            <a:extLst xmlns:a="http://schemas.openxmlformats.org/drawingml/2006/main">
              <a:ext uri="{FF2B5EF4-FFF2-40B4-BE49-F238E27FC236}">
                <a16:creationId xmlns:a16="http://schemas.microsoft.com/office/drawing/2014/main" id="{501A365A-2320-4343-80A5-D4853A206DC9}"/>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E7180"/>
                </a:solidFill>
                <a:latin typeface="Helvetica Neue"/>
                <a:ea typeface="Helvetica Neue"/>
                <a:cs typeface="Helvetica Neue"/>
              </a:defRPr>
            </a:pPr>
            <a:r>
              <a:rPr sz="1200" b="0">
                <a:solidFill>
                  <a:srgbClr val="5E7180"/>
                </a:solidFill>
                <a:latin typeface="Helvetica Neue"/>
                <a:ea typeface="Helvetica Neue"/>
                <a:cs typeface="Helvetica Neue"/>
              </a:rPr>
              <a:t>Objective: turn two technical workstreams into one understandable, testable user journey</a:t>
            </a:r>
          </a:p>
        </p:txBody>
      </p:sp>
      <p:sp>
        <p:nvSpPr>
          <p:cNvPr id="3" name="">
            <a:extLst xmlns:a="http://schemas.openxmlformats.org/drawingml/2006/main">
              <a:ext uri="{FF2B5EF4-FFF2-40B4-BE49-F238E27FC236}">
                <a16:creationId xmlns:a16="http://schemas.microsoft.com/office/drawing/2014/main" id="{DD95B82F-86C1-4231-B2F6-31424392C3AA}"/>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11</a:t>
            </a:r>
          </a:p>
        </p:txBody>
      </p:sp>
      <p:sp>
        <p:nvSpPr>
          <p:cNvPr id="4" name="">
            <a:extLst xmlns:a="http://schemas.openxmlformats.org/drawingml/2006/main">
              <a:ext uri="{FF2B5EF4-FFF2-40B4-BE49-F238E27FC236}">
                <a16:creationId xmlns:a16="http://schemas.microsoft.com/office/drawing/2014/main" id="{012DE2AC-309F-4125-B655-57DDF56044FE}"/>
              </a:ext>
            </a:extLst>
          </p:cNvPr>
          <p:cNvSpPr>
            <a:spLocks xmlns:a="http://schemas.openxmlformats.org/drawingml/2006/main" noGrp="1"/>
          </p:cNvSpPr>
          <p:nvPr/>
        </p:nvSpPr>
        <p:spPr>
          <a:xfrm xmlns:a="http://schemas.openxmlformats.org/drawingml/2006/main">
            <a:off x="704850" y="1828800"/>
            <a:ext cx="309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Own the product contract</a:t>
            </a:r>
          </a:p>
        </p:txBody>
      </p:sp>
      <p:sp>
        <p:nvSpPr>
          <p:cNvPr id="5" name="">
            <a:extLst xmlns:a="http://schemas.openxmlformats.org/drawingml/2006/main">
              <a:ext uri="{FF2B5EF4-FFF2-40B4-BE49-F238E27FC236}">
                <a16:creationId xmlns:a16="http://schemas.microsoft.com/office/drawing/2014/main" id="{B9A2E44A-6BCB-4398-AA32-350E26F6AE86}"/>
              </a:ext>
            </a:extLst>
          </p:cNvPr>
          <p:cNvSpPr>
            <a:spLocks xmlns:a="http://schemas.openxmlformats.org/drawingml/2006/main" noGrp="1"/>
          </p:cNvSpPr>
          <p:nvPr/>
        </p:nvSpPr>
        <p:spPr>
          <a:xfrm xmlns:a="http://schemas.openxmlformats.org/drawingml/2006/main">
            <a:off x="704850" y="21145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66"/>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Choose the first user, supported source pattern, trust wording, money rules, coverage language, and the conditions that define success.</a:t>
            </a:r>
          </a:p>
        </p:txBody>
      </p:sp>
      <p:sp>
        <p:nvSpPr>
          <p:cNvPr id="6" name="">
            <a:extLst xmlns:a="http://schemas.openxmlformats.org/drawingml/2006/main">
              <a:ext uri="{FF2B5EF4-FFF2-40B4-BE49-F238E27FC236}">
                <a16:creationId xmlns:a16="http://schemas.microsoft.com/office/drawing/2014/main" id="{C2EE1C25-B9F2-4F6F-90D0-6288CE907E87}"/>
              </a:ext>
            </a:extLst>
          </p:cNvPr>
          <p:cNvSpPr>
            <a:spLocks xmlns:a="http://schemas.openxmlformats.org/drawingml/2006/main" noGrp="1"/>
          </p:cNvSpPr>
          <p:nvPr/>
        </p:nvSpPr>
        <p:spPr>
          <a:xfrm xmlns:a="http://schemas.openxmlformats.org/drawingml/2006/main">
            <a:off x="4333875" y="1828800"/>
            <a:ext cx="309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Run integration checkpoints</a:t>
            </a:r>
          </a:p>
        </p:txBody>
      </p:sp>
      <p:sp>
        <p:nvSpPr>
          <p:cNvPr id="7" name="">
            <a:extLst xmlns:a="http://schemas.openxmlformats.org/drawingml/2006/main">
              <a:ext uri="{FF2B5EF4-FFF2-40B4-BE49-F238E27FC236}">
                <a16:creationId xmlns:a16="http://schemas.microsoft.com/office/drawing/2014/main" id="{AF9D610E-BC64-4D57-B9E6-45A556D534C6}"/>
              </a:ext>
            </a:extLst>
          </p:cNvPr>
          <p:cNvSpPr>
            <a:spLocks xmlns:a="http://schemas.openxmlformats.org/drawingml/2006/main" noGrp="1"/>
          </p:cNvSpPr>
          <p:nvPr/>
        </p:nvSpPr>
        <p:spPr>
          <a:xfrm xmlns:a="http://schemas.openxmlformats.org/drawingml/2006/main">
            <a:off x="4333875" y="21145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866"/>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Keep an example SourceArtifact, parsed candidate, saved record, and visible review result that both workstreams use during development.</a:t>
            </a:r>
          </a:p>
        </p:txBody>
      </p:sp>
      <p:sp>
        <p:nvSpPr>
          <p:cNvPr id="8" name="">
            <a:extLst xmlns:a="http://schemas.openxmlformats.org/drawingml/2006/main">
              <a:ext uri="{FF2B5EF4-FFF2-40B4-BE49-F238E27FC236}">
                <a16:creationId xmlns:a16="http://schemas.microsoft.com/office/drawing/2014/main" id="{DBBC20CE-FE79-4DFE-9AD2-82B2DB9C9AA4}"/>
              </a:ext>
            </a:extLst>
          </p:cNvPr>
          <p:cNvSpPr>
            <a:spLocks xmlns:a="http://schemas.openxmlformats.org/drawingml/2006/main" noGrp="1"/>
          </p:cNvSpPr>
          <p:nvPr/>
        </p:nvSpPr>
        <p:spPr>
          <a:xfrm xmlns:a="http://schemas.openxmlformats.org/drawingml/2006/main">
            <a:off x="7962900" y="1828800"/>
            <a:ext cx="309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Protect the experience</a:t>
            </a:r>
          </a:p>
        </p:txBody>
      </p:sp>
      <p:sp>
        <p:nvSpPr>
          <p:cNvPr id="9" name="">
            <a:extLst xmlns:a="http://schemas.openxmlformats.org/drawingml/2006/main">
              <a:ext uri="{FF2B5EF4-FFF2-40B4-BE49-F238E27FC236}">
                <a16:creationId xmlns:a16="http://schemas.microsoft.com/office/drawing/2014/main" id="{2BB5D898-BA22-4F40-AC26-FA971C5BFE4F}"/>
              </a:ext>
            </a:extLst>
          </p:cNvPr>
          <p:cNvSpPr>
            <a:spLocks xmlns:a="http://schemas.openxmlformats.org/drawingml/2006/main" noGrp="1"/>
          </p:cNvSpPr>
          <p:nvPr/>
        </p:nvSpPr>
        <p:spPr>
          <a:xfrm xmlns:a="http://schemas.openxmlformats.org/drawingml/2006/main">
            <a:off x="7962900" y="21145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084"/>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Review consent, failure, coverage, correction, and deletion language. Confirm the mobile journey does not hide unresolved uncertainty.</a:t>
            </a:r>
          </a:p>
        </p:txBody>
      </p:sp>
      <p:sp>
        <p:nvSpPr>
          <p:cNvPr id="10" name="">
            <a:extLst xmlns:a="http://schemas.openxmlformats.org/drawingml/2006/main">
              <a:ext uri="{FF2B5EF4-FFF2-40B4-BE49-F238E27FC236}">
                <a16:creationId xmlns:a16="http://schemas.microsoft.com/office/drawing/2014/main" id="{C58AC82F-EAE7-4AD4-AB31-9DEE0FA96361}"/>
              </a:ext>
            </a:extLst>
          </p:cNvPr>
          <p:cNvSpPr>
            <a:spLocks xmlns:a="http://schemas.openxmlformats.org/drawingml/2006/main" noGrp="1"/>
          </p:cNvSpPr>
          <p:nvPr/>
        </p:nvSpPr>
        <p:spPr>
          <a:xfrm xmlns:a="http://schemas.openxmlformats.org/drawingml/2006/main">
            <a:off x="704850" y="4000500"/>
            <a:ext cx="309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Accept the sprint evidence</a:t>
            </a:r>
          </a:p>
        </p:txBody>
      </p:sp>
      <p:sp>
        <p:nvSpPr>
          <p:cNvPr id="11" name="">
            <a:extLst xmlns:a="http://schemas.openxmlformats.org/drawingml/2006/main">
              <a:ext uri="{FF2B5EF4-FFF2-40B4-BE49-F238E27FC236}">
                <a16:creationId xmlns:a16="http://schemas.microsoft.com/office/drawing/2014/main" id="{86E1B8F7-DDD1-423B-931D-1F4826E28FF7}"/>
              </a:ext>
            </a:extLst>
          </p:cNvPr>
          <p:cNvSpPr>
            <a:spLocks xmlns:a="http://schemas.openxmlformats.org/drawingml/2006/main" noGrp="1"/>
          </p:cNvSpPr>
          <p:nvPr/>
        </p:nvSpPr>
        <p:spPr>
          <a:xfrm xmlns:a="http://schemas.openxmlformats.org/drawingml/2006/main">
            <a:off x="704850" y="42862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2559"/>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Observe an invited non-builder. Record friction, corrections, help required, coverage understanding, and whether they return to their own record.</a:t>
            </a:r>
          </a:p>
        </p:txBody>
      </p:sp>
      <p:sp>
        <p:nvSpPr>
          <p:cNvPr id="12" name="">
            <a:extLst xmlns:a="http://schemas.openxmlformats.org/drawingml/2006/main">
              <a:ext uri="{FF2B5EF4-FFF2-40B4-BE49-F238E27FC236}">
                <a16:creationId xmlns:a16="http://schemas.microsoft.com/office/drawing/2014/main" id="{15FF1EF5-6517-4A08-A39E-13D88A2F539E}"/>
              </a:ext>
            </a:extLst>
          </p:cNvPr>
          <p:cNvSpPr>
            <a:spLocks xmlns:a="http://schemas.openxmlformats.org/drawingml/2006/main" noGrp="1"/>
          </p:cNvSpPr>
          <p:nvPr/>
        </p:nvSpPr>
        <p:spPr>
          <a:xfrm xmlns:a="http://schemas.openxmlformats.org/drawingml/2006/main">
            <a:off x="4333875" y="4000500"/>
            <a:ext cx="309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Coordinate quality</a:t>
            </a:r>
          </a:p>
        </p:txBody>
      </p:sp>
      <p:sp>
        <p:nvSpPr>
          <p:cNvPr id="13" name="">
            <a:extLst xmlns:a="http://schemas.openxmlformats.org/drawingml/2006/main">
              <a:ext uri="{FF2B5EF4-FFF2-40B4-BE49-F238E27FC236}">
                <a16:creationId xmlns:a16="http://schemas.microsoft.com/office/drawing/2014/main" id="{F553C4F1-91D5-4204-AD27-D4AABB5241E4}"/>
              </a:ext>
            </a:extLst>
          </p:cNvPr>
          <p:cNvSpPr>
            <a:spLocks xmlns:a="http://schemas.openxmlformats.org/drawingml/2006/main" noGrp="1"/>
          </p:cNvSpPr>
          <p:nvPr/>
        </p:nvSpPr>
        <p:spPr>
          <a:xfrm xmlns:a="http://schemas.openxmlformats.org/drawingml/2006/main">
            <a:off x="4333875" y="42862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41"/>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Require source, persistence, and end-to-end checks before adding scope. Keep a decision log when a technical finding changes product scope.</a:t>
            </a:r>
          </a:p>
        </p:txBody>
      </p:sp>
      <p:sp>
        <p:nvSpPr>
          <p:cNvPr id="14" name="">
            <a:extLst xmlns:a="http://schemas.openxmlformats.org/drawingml/2006/main">
              <a:ext uri="{FF2B5EF4-FFF2-40B4-BE49-F238E27FC236}">
                <a16:creationId xmlns:a16="http://schemas.microsoft.com/office/drawing/2014/main" id="{64CD0982-00C8-4A47-A496-EA04511EEF20}"/>
              </a:ext>
            </a:extLst>
          </p:cNvPr>
          <p:cNvSpPr>
            <a:spLocks xmlns:a="http://schemas.openxmlformats.org/drawingml/2006/main" noGrp="1"/>
          </p:cNvSpPr>
          <p:nvPr/>
        </p:nvSpPr>
        <p:spPr>
          <a:xfrm xmlns:a="http://schemas.openxmlformats.org/drawingml/2006/main">
            <a:off x="7962900" y="4000500"/>
            <a:ext cx="309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defRPr sz="1350" b="1">
                <a:solidFill>
                  <a:srgbClr val="1F7A78"/>
                </a:solidFill>
                <a:latin typeface="Helvetica Neue"/>
                <a:ea typeface="Helvetica Neue"/>
                <a:cs typeface="Helvetica Neue"/>
              </a:defRPr>
            </a:pPr>
            <a:r>
              <a:rPr sz="1350" b="1">
                <a:solidFill>
                  <a:srgbClr val="1F7A78"/>
                </a:solidFill>
                <a:latin typeface="Helvetica Neue"/>
                <a:ea typeface="Helvetica Neue"/>
                <a:cs typeface="Helvetica Neue"/>
              </a:rPr>
              <a:t>Decide the next move</a:t>
            </a:r>
          </a:p>
        </p:txBody>
      </p:sp>
      <p:sp>
        <p:nvSpPr>
          <p:cNvPr id="15" name="">
            <a:extLst xmlns:a="http://schemas.openxmlformats.org/drawingml/2006/main">
              <a:ext uri="{FF2B5EF4-FFF2-40B4-BE49-F238E27FC236}">
                <a16:creationId xmlns:a16="http://schemas.microsoft.com/office/drawing/2014/main" id="{7A092797-7B76-4106-A0CA-A5B3D9D809F5}"/>
              </a:ext>
            </a:extLst>
          </p:cNvPr>
          <p:cNvSpPr>
            <a:spLocks xmlns:a="http://schemas.openxmlformats.org/drawingml/2006/main" noGrp="1"/>
          </p:cNvSpPr>
          <p:nvPr/>
        </p:nvSpPr>
        <p:spPr>
          <a:xfrm xmlns:a="http://schemas.openxmlformats.org/drawingml/2006/main">
            <a:off x="7962900" y="428625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141"/>
          </a:bodyPr>
          <a:lstStyle xmlns:a="http://schemas.openxmlformats.org/drawingml/2006/main"/>
          <a:p xmlns:a="http://schemas.openxmlformats.org/drawingml/2006/main">
            <a:pPr>
              <a:defRPr sz="1200" b="0">
                <a:solidFill>
                  <a:srgbClr val="123447"/>
                </a:solidFill>
                <a:latin typeface="Helvetica Neue"/>
                <a:ea typeface="Helvetica Neue"/>
                <a:cs typeface="Helvetica Neue"/>
              </a:defRPr>
            </a:pPr>
            <a:r>
              <a:rPr sz="1200" b="0">
                <a:solidFill>
                  <a:srgbClr val="123447"/>
                </a:solidFill>
                <a:latin typeface="Helvetica Neue"/>
                <a:ea typeface="Helvetica Neue"/>
                <a:cs typeface="Helvetica Neue"/>
              </a:rPr>
              <a:t>Continue, revise, or stop based on observed use. A working OAuth callback or database table is intermediate evidence only.</a:t>
            </a:r>
          </a:p>
        </p:txBody>
      </p:sp>
    </p:spTree>
    <p:extLst>
      <p:ext uri="{BB962C8B-B14F-4D97-AF65-F5344CB8AC3E}">
        <p14:creationId xmlns:p14="http://schemas.microsoft.com/office/powerpoint/2010/main" val="21309149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1C18B0-DB4E-4D9D-B180-C1805E9AEC11}"/>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92639"/>
                </a:solidFill>
                <a:latin typeface="Helvetica Neue"/>
                <a:ea typeface="Helvetica Neue"/>
                <a:cs typeface="Helvetica Neue"/>
              </a:defRPr>
            </a:pPr>
            <a:r>
              <a:rPr sz="2700" b="1">
                <a:solidFill>
                  <a:srgbClr val="092639"/>
                </a:solidFill>
                <a:latin typeface="Helvetica Neue"/>
                <a:ea typeface="Helvetica Neue"/>
                <a:cs typeface="Helvetica Neue"/>
              </a:rPr>
              <a:t>A small sequence prevents integration surprises</a:t>
            </a:r>
          </a:p>
        </p:txBody>
      </p:sp>
      <p:sp>
        <p:nvSpPr>
          <p:cNvPr id="2" name="">
            <a:extLst xmlns:a="http://schemas.openxmlformats.org/drawingml/2006/main">
              <a:ext uri="{FF2B5EF4-FFF2-40B4-BE49-F238E27FC236}">
                <a16:creationId xmlns:a16="http://schemas.microsoft.com/office/drawing/2014/main" id="{A0E0D6EA-88E1-4835-A1D4-347D2FEB3089}"/>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E7180"/>
                </a:solidFill>
                <a:latin typeface="Helvetica Neue"/>
                <a:ea typeface="Helvetica Neue"/>
                <a:cs typeface="Helvetica Neue"/>
              </a:defRPr>
            </a:pPr>
            <a:r>
              <a:rPr sz="1200" b="0">
                <a:solidFill>
                  <a:srgbClr val="5E7180"/>
                </a:solidFill>
                <a:latin typeface="Helvetica Neue"/>
                <a:ea typeface="Helvetica Neue"/>
                <a:cs typeface="Helvetica Neue"/>
              </a:rPr>
              <a:t>Each stage produces evidence the next stage needs</a:t>
            </a:r>
          </a:p>
        </p:txBody>
      </p:sp>
      <p:sp>
        <p:nvSpPr>
          <p:cNvPr id="3" name="">
            <a:extLst xmlns:a="http://schemas.openxmlformats.org/drawingml/2006/main">
              <a:ext uri="{FF2B5EF4-FFF2-40B4-BE49-F238E27FC236}">
                <a16:creationId xmlns:a16="http://schemas.microsoft.com/office/drawing/2014/main" id="{A74B9E13-41EA-47C4-98B9-2003379AF1F7}"/>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12</a:t>
            </a:r>
          </a:p>
        </p:txBody>
      </p:sp>
      <p:sp>
        <p:nvSpPr>
          <p:cNvPr id="4" name="">
            <a:extLst xmlns:a="http://schemas.openxmlformats.org/drawingml/2006/main">
              <a:ext uri="{FF2B5EF4-FFF2-40B4-BE49-F238E27FC236}">
                <a16:creationId xmlns:a16="http://schemas.microsoft.com/office/drawing/2014/main" id="{178B3744-9EC4-43F4-9887-9223C2716619}"/>
              </a:ext>
            </a:extLst>
          </p:cNvPr>
          <p:cNvSpPr>
            <a:spLocks xmlns:a="http://schemas.openxmlformats.org/drawingml/2006/main" noGrp="1"/>
          </p:cNvSpPr>
          <p:nvPr/>
        </p:nvSpPr>
        <p:spPr>
          <a:xfrm xmlns:a="http://schemas.openxmlformats.org/drawingml/2006/main">
            <a:off x="742950" y="17621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697"/>
          </a:bodyPr>
          <a:lstStyle xmlns:a="http://schemas.openxmlformats.org/drawingml/2006/main"/>
          <a:p xmlns:a="http://schemas.openxmlformats.org/drawingml/2006/main">
            <a:pPr>
              <a:defRPr sz="1650" b="1">
                <a:solidFill>
                  <a:srgbClr val="092639"/>
                </a:solidFill>
                <a:latin typeface="Helvetica Neue"/>
                <a:ea typeface="Helvetica Neue"/>
                <a:cs typeface="Helvetica Neue"/>
              </a:defRPr>
            </a:pPr>
            <a:r>
              <a:rPr sz="1650" b="1">
                <a:solidFill>
                  <a:srgbClr val="092639"/>
                </a:solidFill>
                <a:latin typeface="Helvetica Neue"/>
                <a:ea typeface="Helvetica Neue"/>
                <a:cs typeface="Helvetica Neue"/>
              </a:rPr>
              <a:t>1. Define</a:t>
            </a:r>
          </a:p>
        </p:txBody>
      </p:sp>
      <p:sp>
        <p:nvSpPr>
          <p:cNvPr id="5" name="">
            <a:extLst xmlns:a="http://schemas.openxmlformats.org/drawingml/2006/main">
              <a:ext uri="{FF2B5EF4-FFF2-40B4-BE49-F238E27FC236}">
                <a16:creationId xmlns:a16="http://schemas.microsoft.com/office/drawing/2014/main" id="{F122D105-9ECE-4517-A137-03EC9DDAD9B0}"/>
              </a:ext>
            </a:extLst>
          </p:cNvPr>
          <p:cNvSpPr>
            <a:spLocks xmlns:a="http://schemas.openxmlformats.org/drawingml/2006/main" noGrp="1"/>
          </p:cNvSpPr>
          <p:nvPr/>
        </p:nvSpPr>
        <p:spPr>
          <a:xfrm xmlns:a="http://schemas.openxmlformats.org/drawingml/2006/main">
            <a:off x="742950" y="2162175"/>
            <a:ext cx="1952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744"/>
          </a:bodyPr>
          <a:lstStyle xmlns:a="http://schemas.openxmlformats.org/drawingml/2006/main"/>
          <a:p xmlns:a="http://schemas.openxmlformats.org/drawingml/2006/main">
            <a:pPr>
              <a:defRPr sz="1275" b="0">
                <a:solidFill>
                  <a:srgbClr val="123447"/>
                </a:solidFill>
                <a:latin typeface="Helvetica Neue"/>
                <a:ea typeface="Helvetica Neue"/>
                <a:cs typeface="Helvetica Neue"/>
              </a:defRPr>
            </a:pPr>
            <a:r>
              <a:rPr sz="1275" b="0">
                <a:solidFill>
                  <a:srgbClr val="123447"/>
                </a:solidFill>
                <a:latin typeface="Helvetica Neue"/>
                <a:ea typeface="Helvetica Neue"/>
                <a:cs typeface="Helvetica Neue"/>
              </a:rPr>
              <a:t>Choose one user, one source, and one message pattern. Write supported and unsupported fictional examples.</a:t>
            </a:r>
          </a:p>
        </p:txBody>
      </p:sp>
      <p:sp>
        <p:nvSpPr>
          <p:cNvPr id="6" name="">
            <a:extLst xmlns:a="http://schemas.openxmlformats.org/drawingml/2006/main">
              <a:ext uri="{FF2B5EF4-FFF2-40B4-BE49-F238E27FC236}">
                <a16:creationId xmlns:a16="http://schemas.microsoft.com/office/drawing/2014/main" id="{9D1C9BA8-3227-4F42-8D83-8B92BE8031D3}"/>
              </a:ext>
            </a:extLst>
          </p:cNvPr>
          <p:cNvSpPr>
            <a:spLocks xmlns:a="http://schemas.openxmlformats.org/drawingml/2006/main" noGrp="1"/>
          </p:cNvSpPr>
          <p:nvPr/>
        </p:nvSpPr>
        <p:spPr>
          <a:xfrm xmlns:a="http://schemas.openxmlformats.org/drawingml/2006/main">
            <a:off x="3400425" y="17621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697"/>
          </a:bodyPr>
          <a:lstStyle xmlns:a="http://schemas.openxmlformats.org/drawingml/2006/main"/>
          <a:p xmlns:a="http://schemas.openxmlformats.org/drawingml/2006/main">
            <a:pPr>
              <a:defRPr sz="1650" b="1">
                <a:solidFill>
                  <a:srgbClr val="092639"/>
                </a:solidFill>
                <a:latin typeface="Helvetica Neue"/>
                <a:ea typeface="Helvetica Neue"/>
                <a:cs typeface="Helvetica Neue"/>
              </a:defRPr>
            </a:pPr>
            <a:r>
              <a:rPr sz="1650" b="1">
                <a:solidFill>
                  <a:srgbClr val="092639"/>
                </a:solidFill>
                <a:latin typeface="Helvetica Neue"/>
                <a:ea typeface="Helvetica Neue"/>
                <a:cs typeface="Helvetica Neue"/>
              </a:rPr>
              <a:t>2. Prove feasibility</a:t>
            </a:r>
          </a:p>
        </p:txBody>
      </p:sp>
      <p:sp>
        <p:nvSpPr>
          <p:cNvPr id="7" name="">
            <a:extLst xmlns:a="http://schemas.openxmlformats.org/drawingml/2006/main">
              <a:ext uri="{FF2B5EF4-FFF2-40B4-BE49-F238E27FC236}">
                <a16:creationId xmlns:a16="http://schemas.microsoft.com/office/drawing/2014/main" id="{0E6FC945-D7A3-4AA2-BE8D-89E812C92463}"/>
              </a:ext>
            </a:extLst>
          </p:cNvPr>
          <p:cNvSpPr>
            <a:spLocks xmlns:a="http://schemas.openxmlformats.org/drawingml/2006/main" noGrp="1"/>
          </p:cNvSpPr>
          <p:nvPr/>
        </p:nvSpPr>
        <p:spPr>
          <a:xfrm xmlns:a="http://schemas.openxmlformats.org/drawingml/2006/main">
            <a:off x="3400425" y="2162175"/>
            <a:ext cx="209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479"/>
          </a:bodyPr>
          <a:lstStyle xmlns:a="http://schemas.openxmlformats.org/drawingml/2006/main"/>
          <a:p xmlns:a="http://schemas.openxmlformats.org/drawingml/2006/main">
            <a:pPr>
              <a:defRPr sz="1275" b="0">
                <a:solidFill>
                  <a:srgbClr val="123447"/>
                </a:solidFill>
                <a:latin typeface="Helvetica Neue"/>
                <a:ea typeface="Helvetica Neue"/>
                <a:cs typeface="Helvetica Neue"/>
              </a:defRPr>
            </a:pPr>
            <a:r>
              <a:rPr sz="1275" b="0">
                <a:solidFill>
                  <a:srgbClr val="123447"/>
                </a:solidFill>
                <a:latin typeface="Helvetica Neue"/>
                <a:ea typeface="Helvetica Neue"/>
                <a:cs typeface="Helvetica Neue"/>
              </a:rPr>
              <a:t>Check Gmail consent, scope, coverage, and data handling. Choose Gmail or user-initiated import.</a:t>
            </a:r>
          </a:p>
        </p:txBody>
      </p:sp>
      <p:sp>
        <p:nvSpPr>
          <p:cNvPr id="8" name="">
            <a:extLst xmlns:a="http://schemas.openxmlformats.org/drawingml/2006/main">
              <a:ext uri="{FF2B5EF4-FFF2-40B4-BE49-F238E27FC236}">
                <a16:creationId xmlns:a16="http://schemas.microsoft.com/office/drawing/2014/main" id="{04F4FD03-4923-496F-BE16-8300F09FAD79}"/>
              </a:ext>
            </a:extLst>
          </p:cNvPr>
          <p:cNvSpPr>
            <a:spLocks xmlns:a="http://schemas.openxmlformats.org/drawingml/2006/main" noGrp="1"/>
          </p:cNvSpPr>
          <p:nvPr/>
        </p:nvSpPr>
        <p:spPr>
          <a:xfrm xmlns:a="http://schemas.openxmlformats.org/drawingml/2006/main">
            <a:off x="6381750" y="1762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697"/>
          </a:bodyPr>
          <a:lstStyle xmlns:a="http://schemas.openxmlformats.org/drawingml/2006/main"/>
          <a:p xmlns:a="http://schemas.openxmlformats.org/drawingml/2006/main">
            <a:pPr>
              <a:defRPr sz="1650" b="1">
                <a:solidFill>
                  <a:srgbClr val="092639"/>
                </a:solidFill>
                <a:latin typeface="Helvetica Neue"/>
                <a:ea typeface="Helvetica Neue"/>
                <a:cs typeface="Helvetica Neue"/>
              </a:defRPr>
            </a:pPr>
            <a:r>
              <a:rPr sz="1650" b="1">
                <a:solidFill>
                  <a:srgbClr val="092639"/>
                </a:solidFill>
                <a:latin typeface="Helvetica Neue"/>
                <a:ea typeface="Helvetica Neue"/>
                <a:cs typeface="Helvetica Neue"/>
              </a:rPr>
              <a:t>3. Build the thin path</a:t>
            </a:r>
          </a:p>
        </p:txBody>
      </p:sp>
      <p:sp>
        <p:nvSpPr>
          <p:cNvPr id="9" name="">
            <a:extLst xmlns:a="http://schemas.openxmlformats.org/drawingml/2006/main">
              <a:ext uri="{FF2B5EF4-FFF2-40B4-BE49-F238E27FC236}">
                <a16:creationId xmlns:a16="http://schemas.microsoft.com/office/drawing/2014/main" id="{5D6D553B-4ADA-4FE2-AAB6-9B132556EB6D}"/>
              </a:ext>
            </a:extLst>
          </p:cNvPr>
          <p:cNvSpPr>
            <a:spLocks xmlns:a="http://schemas.openxmlformats.org/drawingml/2006/main" noGrp="1"/>
          </p:cNvSpPr>
          <p:nvPr/>
        </p:nvSpPr>
        <p:spPr>
          <a:xfrm xmlns:a="http://schemas.openxmlformats.org/drawingml/2006/main">
            <a:off x="6381750" y="2162175"/>
            <a:ext cx="228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474"/>
          </a:bodyPr>
          <a:lstStyle xmlns:a="http://schemas.openxmlformats.org/drawingml/2006/main"/>
          <a:p xmlns:a="http://schemas.openxmlformats.org/drawingml/2006/main">
            <a:pPr>
              <a:defRPr sz="1275" b="0">
                <a:solidFill>
                  <a:srgbClr val="123447"/>
                </a:solidFill>
                <a:latin typeface="Helvetica Neue"/>
                <a:ea typeface="Helvetica Neue"/>
                <a:cs typeface="Helvetica Neue"/>
              </a:defRPr>
            </a:pPr>
            <a:r>
              <a:rPr sz="1275" b="0">
                <a:solidFill>
                  <a:srgbClr val="123447"/>
                </a:solidFill>
                <a:latin typeface="Helvetica Neue"/>
                <a:ea typeface="Helvetica Neue"/>
                <a:cs typeface="Helvetica Neue"/>
              </a:rPr>
              <a:t>Connect source capture, existing domain logic, private storage, review, return visit, disconnect, and deletion.</a:t>
            </a:r>
          </a:p>
        </p:txBody>
      </p:sp>
      <p:sp>
        <p:nvSpPr>
          <p:cNvPr id="10" name="">
            <a:extLst xmlns:a="http://schemas.openxmlformats.org/drawingml/2006/main">
              <a:ext uri="{FF2B5EF4-FFF2-40B4-BE49-F238E27FC236}">
                <a16:creationId xmlns:a16="http://schemas.microsoft.com/office/drawing/2014/main" id="{0D3C28A9-B984-44F6-8FED-B504F85D6E83}"/>
              </a:ext>
            </a:extLst>
          </p:cNvPr>
          <p:cNvSpPr>
            <a:spLocks xmlns:a="http://schemas.openxmlformats.org/drawingml/2006/main" noGrp="1"/>
          </p:cNvSpPr>
          <p:nvPr/>
        </p:nvSpPr>
        <p:spPr>
          <a:xfrm xmlns:a="http://schemas.openxmlformats.org/drawingml/2006/main">
            <a:off x="9620250" y="17621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697"/>
          </a:bodyPr>
          <a:lstStyle xmlns:a="http://schemas.openxmlformats.org/drawingml/2006/main"/>
          <a:p xmlns:a="http://schemas.openxmlformats.org/drawingml/2006/main">
            <a:pPr>
              <a:defRPr sz="1650" b="1">
                <a:solidFill>
                  <a:srgbClr val="092639"/>
                </a:solidFill>
                <a:latin typeface="Helvetica Neue"/>
                <a:ea typeface="Helvetica Neue"/>
                <a:cs typeface="Helvetica Neue"/>
              </a:defRPr>
            </a:pPr>
            <a:r>
              <a:rPr sz="1650" b="1">
                <a:solidFill>
                  <a:srgbClr val="092639"/>
                </a:solidFill>
                <a:latin typeface="Helvetica Neue"/>
                <a:ea typeface="Helvetica Neue"/>
                <a:cs typeface="Helvetica Neue"/>
              </a:rPr>
              <a:t>4. Observe</a:t>
            </a:r>
          </a:p>
        </p:txBody>
      </p:sp>
      <p:sp>
        <p:nvSpPr>
          <p:cNvPr id="11" name="">
            <a:extLst xmlns:a="http://schemas.openxmlformats.org/drawingml/2006/main">
              <a:ext uri="{FF2B5EF4-FFF2-40B4-BE49-F238E27FC236}">
                <a16:creationId xmlns:a16="http://schemas.microsoft.com/office/drawing/2014/main" id="{4C000EAC-905A-47DA-88B4-4538ACC607AF}"/>
              </a:ext>
            </a:extLst>
          </p:cNvPr>
          <p:cNvSpPr>
            <a:spLocks xmlns:a="http://schemas.openxmlformats.org/drawingml/2006/main" noGrp="1"/>
          </p:cNvSpPr>
          <p:nvPr/>
        </p:nvSpPr>
        <p:spPr>
          <a:xfrm xmlns:a="http://schemas.openxmlformats.org/drawingml/2006/main">
            <a:off x="9620250" y="2162175"/>
            <a:ext cx="171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431"/>
          </a:bodyPr>
          <a:lstStyle xmlns:a="http://schemas.openxmlformats.org/drawingml/2006/main"/>
          <a:p xmlns:a="http://schemas.openxmlformats.org/drawingml/2006/main">
            <a:pPr>
              <a:defRPr sz="1275" b="0">
                <a:solidFill>
                  <a:srgbClr val="123447"/>
                </a:solidFill>
                <a:latin typeface="Helvetica Neue"/>
                <a:ea typeface="Helvetica Neue"/>
                <a:cs typeface="Helvetica Neue"/>
              </a:defRPr>
            </a:pPr>
            <a:r>
              <a:rPr sz="1275" b="0">
                <a:solidFill>
                  <a:srgbClr val="123447"/>
                </a:solidFill>
                <a:latin typeface="Helvetica Neue"/>
                <a:ea typeface="Helvetica Neue"/>
                <a:cs typeface="Helvetica Neue"/>
              </a:rPr>
              <a:t>Watch an invited non-builder complete the journey. Record failures and comprehension.</a:t>
            </a:r>
          </a:p>
        </p:txBody>
      </p:sp>
      <p:sp>
        <p:nvSpPr>
          <p:cNvPr id="12" name="">
            <a:extLst xmlns:a="http://schemas.openxmlformats.org/drawingml/2006/main">
              <a:ext uri="{FF2B5EF4-FFF2-40B4-BE49-F238E27FC236}">
                <a16:creationId xmlns:a16="http://schemas.microsoft.com/office/drawing/2014/main" id="{E8327220-EEDB-45CF-8642-68223069FDC6}"/>
              </a:ext>
            </a:extLst>
          </p:cNvPr>
          <p:cNvSpPr>
            <a:spLocks xmlns:a="http://schemas.openxmlformats.org/drawingml/2006/main" noGrp="1"/>
          </p:cNvSpPr>
          <p:nvPr/>
        </p:nvSpPr>
        <p:spPr>
          <a:xfrm xmlns:a="http://schemas.openxmlformats.org/drawingml/2006/main">
            <a:off x="819150" y="4619625"/>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333"/>
          </a:bodyPr>
          <a:lstStyle xmlns:a="http://schemas.openxmlformats.org/drawingml/2006/main"/>
          <a:p xmlns:a="http://schemas.openxmlformats.org/drawingml/2006/main">
            <a:pPr>
              <a:defRPr sz="1875" b="1">
                <a:solidFill>
                  <a:srgbClr val="1F7A78"/>
                </a:solidFill>
                <a:latin typeface="Helvetica Neue"/>
                <a:ea typeface="Helvetica Neue"/>
                <a:cs typeface="Helvetica Neue"/>
              </a:defRPr>
            </a:pPr>
            <a:r>
              <a:rPr sz="1875" b="1">
                <a:solidFill>
                  <a:srgbClr val="1F7A78"/>
                </a:solidFill>
                <a:latin typeface="Helvetica Neue"/>
                <a:ea typeface="Helvetica Neue"/>
                <a:cs typeface="Helvetica Neue"/>
              </a:rPr>
              <a:t>Sprint 2 passes when an invited non-builder completes the whole journey, explains what was and was not detected, returns to their own record, and can disconnect or delete.</a:t>
            </a:r>
          </a:p>
        </p:txBody>
      </p:sp>
    </p:spTree>
    <p:extLst>
      <p:ext uri="{BB962C8B-B14F-4D97-AF65-F5344CB8AC3E}">
        <p14:creationId xmlns:p14="http://schemas.microsoft.com/office/powerpoint/2010/main" val="394356941"/>
      </p:ext>
    </p:extLst>
  </p:cSld>
</p:sld>
</file>

<file path=ppt/slides/slide13.xml><?xml version="1.0" encoding="utf-8"?>
<p:sld xmlns:p="http://schemas.openxmlformats.org/presentationml/2006/main">
  <p:cSld>
    <p:bg>
      <p:bgPr>
        <a:solidFill xmlns:a="http://schemas.openxmlformats.org/drawingml/2006/main">
          <a:srgbClr val="09263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92194A-91D4-448B-AEB4-E3607F3A18A4}"/>
              </a:ext>
            </a:extLst>
          </p:cNvPr>
          <p:cNvSpPr>
            <a:spLocks xmlns:a="http://schemas.openxmlformats.org/drawingml/2006/main" noGrp="1"/>
          </p:cNvSpPr>
          <p:nvPr/>
        </p:nvSpPr>
        <p:spPr>
          <a:xfrm xmlns:a="http://schemas.openxmlformats.org/drawingml/2006/main">
            <a:off x="685800" y="4381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Decisions needed today</a:t>
            </a:r>
          </a:p>
        </p:txBody>
      </p:sp>
      <p:sp>
        <p:nvSpPr>
          <p:cNvPr id="2" name="">
            <a:extLst xmlns:a="http://schemas.openxmlformats.org/drawingml/2006/main">
              <a:ext uri="{FF2B5EF4-FFF2-40B4-BE49-F238E27FC236}">
                <a16:creationId xmlns:a16="http://schemas.microsoft.com/office/drawing/2014/main" id="{BDBB85E5-B52A-43C2-8FCA-53C0CB74D3CD}"/>
              </a:ext>
            </a:extLst>
          </p:cNvPr>
          <p:cNvSpPr>
            <a:spLocks xmlns:a="http://schemas.openxmlformats.org/drawingml/2006/main" noGrp="1"/>
          </p:cNvSpPr>
          <p:nvPr/>
        </p:nvSpPr>
        <p:spPr>
          <a:xfrm xmlns:a="http://schemas.openxmlformats.org/drawingml/2006/main">
            <a:off x="704850" y="10287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B8D7D2"/>
                </a:solidFill>
                <a:latin typeface="Helvetica Neue"/>
                <a:ea typeface="Helvetica Neue"/>
                <a:cs typeface="Helvetica Neue"/>
              </a:defRPr>
            </a:pPr>
            <a:r>
              <a:rPr sz="1200" b="0">
                <a:solidFill>
                  <a:srgbClr val="B8D7D2"/>
                </a:solidFill>
                <a:latin typeface="Helvetica Neue"/>
                <a:ea typeface="Helvetica Neue"/>
                <a:cs typeface="Helvetica Neue"/>
              </a:rPr>
              <a:t>The sprint starts with a shared boundary, not a large feature list</a:t>
            </a:r>
          </a:p>
        </p:txBody>
      </p:sp>
      <p:sp>
        <p:nvSpPr>
          <p:cNvPr id="3" name="">
            <a:extLst xmlns:a="http://schemas.openxmlformats.org/drawingml/2006/main">
              <a:ext uri="{FF2B5EF4-FFF2-40B4-BE49-F238E27FC236}">
                <a16:creationId xmlns:a16="http://schemas.microsoft.com/office/drawing/2014/main" id="{85B1EB3D-B843-4222-BC2F-DC22359339DD}"/>
              </a:ext>
            </a:extLst>
          </p:cNvPr>
          <p:cNvSpPr>
            <a:spLocks xmlns:a="http://schemas.openxmlformats.org/drawingml/2006/main" noGrp="1"/>
          </p:cNvSpPr>
          <p:nvPr/>
        </p:nvSpPr>
        <p:spPr>
          <a:xfrm xmlns:a="http://schemas.openxmlformats.org/drawingml/2006/main">
            <a:off x="685800" y="64389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75909A"/>
                </a:solidFill>
                <a:latin typeface="Helvetica Neue"/>
                <a:ea typeface="Helvetica Neue"/>
                <a:cs typeface="Helvetica Neue"/>
              </a:defRPr>
            </a:pPr>
            <a:r>
              <a:rPr sz="750" b="1">
                <a:solidFill>
                  <a:srgbClr val="75909A"/>
                </a:solidFill>
                <a:latin typeface="Helvetica Neue"/>
                <a:ea typeface="Helvetica Neue"/>
                <a:cs typeface="Helvetica Neue"/>
              </a:rPr>
              <a:t>FINANCEAPP  /  SPRINT 2 TEAM BRIEF  /  13</a:t>
            </a:r>
          </a:p>
        </p:txBody>
      </p:sp>
      <p:sp>
        <p:nvSpPr>
          <p:cNvPr id="4" name="">
            <a:extLst xmlns:a="http://schemas.openxmlformats.org/drawingml/2006/main">
              <a:ext uri="{FF2B5EF4-FFF2-40B4-BE49-F238E27FC236}">
                <a16:creationId xmlns:a16="http://schemas.microsoft.com/office/drawing/2014/main" id="{11A9A5AA-FF16-4773-A1E7-B84BF02235B8}"/>
              </a:ext>
            </a:extLst>
          </p:cNvPr>
          <p:cNvSpPr>
            <a:spLocks xmlns:a="http://schemas.openxmlformats.org/drawingml/2006/main" noGrp="1"/>
          </p:cNvSpPr>
          <p:nvPr/>
        </p:nvSpPr>
        <p:spPr>
          <a:xfrm xmlns:a="http://schemas.openxmlformats.org/drawingml/2006/main">
            <a:off x="742950" y="1924050"/>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720"/>
          </a:bodyPr>
          <a:lstStyle xmlns:a="http://schemas.openxmlformats.org/drawingml/2006/main"/>
          <a:p xmlns:a="http://schemas.openxmlformats.org/drawingml/2006/main">
            <a:pPr>
              <a:defRPr sz="2325" b="1">
                <a:solidFill>
                  <a:srgbClr val="E8B65A"/>
                </a:solidFill>
                <a:latin typeface="Helvetica Neue"/>
                <a:ea typeface="Helvetica Neue"/>
                <a:cs typeface="Helvetica Neue"/>
              </a:defRPr>
            </a:pPr>
            <a:r>
              <a:rPr sz="2325" b="1">
                <a:solidFill>
                  <a:srgbClr val="E8B65A"/>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FA92DF8-BD39-4652-9E56-A0050FD0EB5F}"/>
              </a:ext>
            </a:extLst>
          </p:cNvPr>
          <p:cNvSpPr>
            <a:spLocks xmlns:a="http://schemas.openxmlformats.org/drawingml/2006/main" noGrp="1"/>
          </p:cNvSpPr>
          <p:nvPr/>
        </p:nvSpPr>
        <p:spPr>
          <a:xfrm xmlns:a="http://schemas.openxmlformats.org/drawingml/2006/main">
            <a:off x="1381125" y="194310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Confirm named owners and available hours</a:t>
            </a:r>
          </a:p>
        </p:txBody>
      </p:sp>
      <p:sp>
        <p:nvSpPr>
          <p:cNvPr id="6" name="">
            <a:extLst xmlns:a="http://schemas.openxmlformats.org/drawingml/2006/main">
              <a:ext uri="{FF2B5EF4-FFF2-40B4-BE49-F238E27FC236}">
                <a16:creationId xmlns:a16="http://schemas.microsoft.com/office/drawing/2014/main" id="{F98AC91C-442F-413A-BE9D-9C438FD2125E}"/>
              </a:ext>
            </a:extLst>
          </p:cNvPr>
          <p:cNvSpPr>
            <a:spLocks xmlns:a="http://schemas.openxmlformats.org/drawingml/2006/main" noGrp="1"/>
          </p:cNvSpPr>
          <p:nvPr/>
        </p:nvSpPr>
        <p:spPr>
          <a:xfrm xmlns:a="http://schemas.openxmlformats.org/drawingml/2006/main">
            <a:off x="742950" y="2781300"/>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720"/>
          </a:bodyPr>
          <a:lstStyle xmlns:a="http://schemas.openxmlformats.org/drawingml/2006/main"/>
          <a:p xmlns:a="http://schemas.openxmlformats.org/drawingml/2006/main">
            <a:pPr>
              <a:defRPr sz="2325" b="1">
                <a:solidFill>
                  <a:srgbClr val="E8B65A"/>
                </a:solidFill>
                <a:latin typeface="Helvetica Neue"/>
                <a:ea typeface="Helvetica Neue"/>
                <a:cs typeface="Helvetica Neue"/>
              </a:defRPr>
            </a:pPr>
            <a:r>
              <a:rPr sz="2325" b="1">
                <a:solidFill>
                  <a:srgbClr val="E8B65A"/>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DECC462D-B968-4358-9CE8-0140437A5E4A}"/>
              </a:ext>
            </a:extLst>
          </p:cNvPr>
          <p:cNvSpPr>
            <a:spLocks xmlns:a="http://schemas.openxmlformats.org/drawingml/2006/main" noGrp="1"/>
          </p:cNvSpPr>
          <p:nvPr/>
        </p:nvSpPr>
        <p:spPr>
          <a:xfrm xmlns:a="http://schemas.openxmlformats.org/drawingml/2006/main">
            <a:off x="1381125" y="2800350"/>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Choose the first user, source, and supported message pattern</a:t>
            </a:r>
          </a:p>
        </p:txBody>
      </p:sp>
      <p:sp>
        <p:nvSpPr>
          <p:cNvPr id="8" name="">
            <a:extLst xmlns:a="http://schemas.openxmlformats.org/drawingml/2006/main">
              <a:ext uri="{FF2B5EF4-FFF2-40B4-BE49-F238E27FC236}">
                <a16:creationId xmlns:a16="http://schemas.microsoft.com/office/drawing/2014/main" id="{4C4D3261-6BE1-4508-9980-0D1B642D1B36}"/>
              </a:ext>
            </a:extLst>
          </p:cNvPr>
          <p:cNvSpPr>
            <a:spLocks xmlns:a="http://schemas.openxmlformats.org/drawingml/2006/main" noGrp="1"/>
          </p:cNvSpPr>
          <p:nvPr/>
        </p:nvSpPr>
        <p:spPr>
          <a:xfrm xmlns:a="http://schemas.openxmlformats.org/drawingml/2006/main">
            <a:off x="742950" y="3638550"/>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720"/>
          </a:bodyPr>
          <a:lstStyle xmlns:a="http://schemas.openxmlformats.org/drawingml/2006/main"/>
          <a:p xmlns:a="http://schemas.openxmlformats.org/drawingml/2006/main">
            <a:pPr>
              <a:defRPr sz="2325" b="1">
                <a:solidFill>
                  <a:srgbClr val="E8B65A"/>
                </a:solidFill>
                <a:latin typeface="Helvetica Neue"/>
                <a:ea typeface="Helvetica Neue"/>
                <a:cs typeface="Helvetica Neue"/>
              </a:defRPr>
            </a:pPr>
            <a:r>
              <a:rPr sz="2325" b="1">
                <a:solidFill>
                  <a:srgbClr val="E8B65A"/>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7BCC0B1E-20F3-4021-A210-05752195AD11}"/>
              </a:ext>
            </a:extLst>
          </p:cNvPr>
          <p:cNvSpPr>
            <a:spLocks xmlns:a="http://schemas.openxmlformats.org/drawingml/2006/main" noGrp="1"/>
          </p:cNvSpPr>
          <p:nvPr/>
        </p:nvSpPr>
        <p:spPr>
          <a:xfrm xmlns:a="http://schemas.openxmlformats.org/drawingml/2006/main">
            <a:off x="1381125" y="3657600"/>
            <a:ext cx="876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Agree the Gmail feasibility deadline and import fallback</a:t>
            </a:r>
          </a:p>
        </p:txBody>
      </p:sp>
      <p:sp>
        <p:nvSpPr>
          <p:cNvPr id="10" name="">
            <a:extLst xmlns:a="http://schemas.openxmlformats.org/drawingml/2006/main">
              <a:ext uri="{FF2B5EF4-FFF2-40B4-BE49-F238E27FC236}">
                <a16:creationId xmlns:a16="http://schemas.microsoft.com/office/drawing/2014/main" id="{FC54FA6B-60B5-4F76-B6DD-5621419C2245}"/>
              </a:ext>
            </a:extLst>
          </p:cNvPr>
          <p:cNvSpPr>
            <a:spLocks xmlns:a="http://schemas.openxmlformats.org/drawingml/2006/main" noGrp="1"/>
          </p:cNvSpPr>
          <p:nvPr/>
        </p:nvSpPr>
        <p:spPr>
          <a:xfrm xmlns:a="http://schemas.openxmlformats.org/drawingml/2006/main">
            <a:off x="742950" y="4495800"/>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720"/>
          </a:bodyPr>
          <a:lstStyle xmlns:a="http://schemas.openxmlformats.org/drawingml/2006/main"/>
          <a:p xmlns:a="http://schemas.openxmlformats.org/drawingml/2006/main">
            <a:pPr>
              <a:defRPr sz="2325" b="1">
                <a:solidFill>
                  <a:srgbClr val="E8B65A"/>
                </a:solidFill>
                <a:latin typeface="Helvetica Neue"/>
                <a:ea typeface="Helvetica Neue"/>
                <a:cs typeface="Helvetica Neue"/>
              </a:defRPr>
            </a:pPr>
            <a:r>
              <a:rPr sz="2325" b="1">
                <a:solidFill>
                  <a:srgbClr val="E8B65A"/>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6DAB6C3F-4862-4572-92EB-0515EB8307C6}"/>
              </a:ext>
            </a:extLst>
          </p:cNvPr>
          <p:cNvSpPr>
            <a:spLocks xmlns:a="http://schemas.openxmlformats.org/drawingml/2006/main" noGrp="1"/>
          </p:cNvSpPr>
          <p:nvPr/>
        </p:nvSpPr>
        <p:spPr>
          <a:xfrm xmlns:a="http://schemas.openxmlformats.org/drawingml/2006/main">
            <a:off x="1381125" y="4514850"/>
            <a:ext cx="914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Agree the integration contract and the first acceptance examples</a:t>
            </a:r>
          </a:p>
        </p:txBody>
      </p:sp>
      <p:sp>
        <p:nvSpPr>
          <p:cNvPr id="12" name="">
            <a:extLst xmlns:a="http://schemas.openxmlformats.org/drawingml/2006/main">
              <a:ext uri="{FF2B5EF4-FFF2-40B4-BE49-F238E27FC236}">
                <a16:creationId xmlns:a16="http://schemas.microsoft.com/office/drawing/2014/main" id="{F7A4065D-DD8F-42D7-ACA1-A7F970ED146D}"/>
              </a:ext>
            </a:extLst>
          </p:cNvPr>
          <p:cNvSpPr>
            <a:spLocks xmlns:a="http://schemas.openxmlformats.org/drawingml/2006/main" noGrp="1"/>
          </p:cNvSpPr>
          <p:nvPr/>
        </p:nvSpPr>
        <p:spPr>
          <a:xfrm xmlns:a="http://schemas.openxmlformats.org/drawingml/2006/main">
            <a:off x="762000" y="57150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a:solidFill>
                  <a:srgbClr val="B8D7D2"/>
                </a:solidFill>
                <a:latin typeface="Helvetica Neue"/>
                <a:ea typeface="Helvetica Neue"/>
                <a:cs typeface="Helvetica Neue"/>
              </a:defRPr>
            </a:pPr>
            <a:r>
              <a:rPr sz="1500" b="0">
                <a:solidFill>
                  <a:srgbClr val="B8D7D2"/>
                </a:solidFill>
                <a:latin typeface="Helvetica Neue"/>
                <a:ea typeface="Helvetica Neue"/>
                <a:cs typeface="Helvetica Neue"/>
              </a:rPr>
              <a:t>The first build should be small enough to demonstrate end to end in one team session.</a:t>
            </a:r>
          </a:p>
        </p:txBody>
      </p:sp>
    </p:spTree>
    <p:extLst>
      <p:ext uri="{BB962C8B-B14F-4D97-AF65-F5344CB8AC3E}">
        <p14:creationId xmlns:p14="http://schemas.microsoft.com/office/powerpoint/2010/main" val="4095559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2026-10-05T14:48:48.3560000Z</dcterms:created>
  <dcterms:modified xsi:type="dcterms:W3CDTF">2026-10-05T14:48:48.3560000Z</dcterms:modified>
</coreProperties>
</file>